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83268" autoAdjust="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3052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Hemang Ranga, working under Prof. Sobhan Babu. I will be presenting on the topic “Transaction Foundation Models for General-Purpose Financial Representation Learning”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learn universal representations of text - one pretrained model, reused across translation, summarization, question answering, and more. Vision foundation models do the same for images. The motivating question for this thesis is: can we do the same for financial transactions - learn one pretrained representation that's reusable across many downstream financial tasks? This is hard because transaction data is heterogeneous - many fields with different semantics; structured, not free text; temporal, unfolding over a user's history; and event-based rather than linguistic. So the thesis goal is representation learning: build a foundation model that produces general-purpose transaction embeddings, not a model that's only good at one task like fraud detection.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frame this thesis. First, understand and reproduce NVIDIA's Transaction Foundation Model. Second, validate that the embeddings it learns actually generalize across datasets, not just the one they were trained on. Third, evaluate these embeddings on a downstream task - and I want to be precise here - fraud detection is the benchmark I use, purely because labeled fraud data is available; it is not the research target. Fourth, identify limitations of current transaction representation learning based on what I find. And fifth, beyond Stage 1, propose an extension for richer, relationally-aware representations.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of financial modelling has moved through five broad stages: rule-based features with manual thresholds; handcrafted features feeding classical ML like Random Forest and XGBoost; representation learning, where deep models start learning features rather than being handed them; transformer representations, which add contextual, sequence-aware attention; and finally foundation models, pretrained once and reused across many tasks. The point of this slide is that this is not an evolution toward a better fraud classifier - it's an evolution toward increasingly general and reusable representations.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ML and DL approaches share a common weakness for our purposes: they treat transactions independently, rely on handcrafted, task-specific features, and require training a new model for every task. Even LSTMs, which model sequences, struggle with long-range dependencies, and none of these approaches transfer well across datasets. What we want instead is what foundation models aim for: self-supervised pretraining on raw sequences, producing general-purpose embeddings that one model can produce once and reuse across many downstream tasks, with strong long-range modelling and genuine transfer across datasets. This contrast is exactly why the field moved toward transformer-based foundation models for tabular and transaction data. [~0.75 min]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TabNet is included briefly, as a stepping stone. Its purpose was to bring deep learning to tabular data before transformer architectures existed for this domain. Its key contribution is a sequential attention mechanism that selects relevant features per instance, learning feature importance end-to-end rather than through hand-engineering. But it's still trained end-to-end for one task at a time - there's no pretraining objective that produces a reusable representation. It's a deep learning model for tabular data, not a foundation model. [~0.6 min]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IBM's TabFormer paper is the more central piece of literature. It introduces TabFormer, hierarchical TabBERT, and TabGPT - the key idea being hierarchical tokenization, first at the field level and then at the row level, combined with sequential representation learning through masked or causal language modelling on transaction tables. This is an important step - it shows transformers can meaningfully model transaction sequences. But its limitation, for our purposes, is that it still learns task-specific representations rather than true foundation embeddings - pretraining exists, but the representation isn't positioned or evaluated as something generally reusable across many downstream financial tasks. That's the gap NVIDIA's work steps into. [~0.85 min]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primary paper my implementation builds on. The pipeline is: a financial tokenizer converts each transaction into semantic tokens; a decoder-only transformer is pretrained with causal language modelling, predicting the next transaction token; once trained, we extract embeddings from the frozen model; and the result is a set of reusable transaction embeddings, intended for general downstream tasks - not one task. Critically, no task labels are used anywhere in pretraining - the model learns purely from the structure of transaction behaviour. This architecture forms the basis of my implementation, which I'll walk through in detail next. [~1.25 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architecture I implemented. Raw transactions go through Financial Tokenization - a FinancialTabularTokenizer converts every transaction into twelve semantic tokens: amount, merchant, MCC, hour, day, ZIP, and so on, with amounts log-bucketed, merchant IDs hashed, and temporal fields discretized. Transactions are grouped chronologically by user or card, and a decoder-only transformer - LLaMA-style, with rotary position embeddings, grouped-query attention, and SwiGLU - is trained self-supervised, predicting the next transaction token, with no task labels involved. Once trained, the model is frozen, and the hidden state at the final transaction token is extracted as a 512-dimensional embedding per transaction - this is the general-purpose representation. Only at the very end, for evaluation purposes, is this embedding handed to a downstream classifier. [~2.0 min]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implemented the full five-notebook pipeline end-to-end: tokenization, foundation model training from scratch - purely self-supervised, no labels involved - embedding extraction, and evaluation. Now, to actually evaluate whether these embeddings are any good, I need some downstream task with ground truth, and I used fraud detection for that, simply because labelled data is available. I compared three feature sets going into a downstream classifier: raw tabular features, embeddings alone, and the combination. Raw features alone reach 0.9885 ROC-AUC; embeddings alone are weaker on their own - about 0.8822; but combined, we get 0.9906 AUC and a 14.5% lift in average precision over baseline. The point isn't that I built a better fraud model - it's that the embeddings clearly carry complementary signal beyond what raw features already capture, which is exactly the evidence we want for representation quality. [~1.5 min]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generalization, I adapted the IEEE-CIS fraud detection dataset - chosen because its schema is completely different from the original: no explicit user or card IDs, 400+ unfamiliar columns, different temporal representation. My contribution was a schema-adaptation pipeline - identifier engineering, temporal reconstruction, feature mapping onto NVIDIA's 12-field schema, and chronological splitting - all without touching NVIDIA's tokenizer or model code. The goal here is not to build a fraud model for IEEE-CIS - it's to test whether the representation-learning approach itself transfers to a structurally different dataset. I trained the foundation model from scratch on a roughly 472,000-row subset, 5 epochs - enough to validate the pipeline end-to-end, though limited in scale. [~1.1 min]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IEEE-CIS, the same evaluation protocol gives: raw features 0.7751 AUC and 0.1657 average precision; embeddings alone weaker at 0.6928 AUC and 0.0945 AP; combined again best, at 0.7844 AUC and 0.1725 AP - a 4.06% AP lift. That lift is smaller than the 14.5% we saw on the original dataset, which makes sense given this model saw a small subset for only 5 epochs. But the important read here is not 'how good is fraud detection on IEEE-CIS' - it's that the same pattern - embeddings-only weakest, combined best - replicates on a completely different dataset, which is exactly the evidence we want for generalization of the representation-learning approach. [~1.1 min]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transaction foundation models - including the one I implemented - learn temporal behaviour, sequential dependencies, and behavioural context, all scoped to a single account or card. But financial ecosystems also contain relational information: account networks, merchant networks, company networks, invoice chains, customer-merchant interactions. None of that is captured by a purely sequential representation. And I want to stress - this is a limitation of the representation itself, not of the fraud detection task specifically. It would affect any downstream task built on these embeddings: fraud detection, anti-money-laundering, credit risk, recommendation, all of it. [~1.1 min]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proposed extension. The proven part of the pipeline - transaction sequences through the financial tokenizer into the decoder foundation model, producing transaction embeddings - stays exactly as is. What I'm proposing to add, in dashed boxes because this is future work, is: construct a graph over transacting entities, apply a graph neural network, and produce relational transaction embeddings. The key point is that this enriches the representation - it doesn't replace the downstream classifier, and it doesn't target fraud detection specifically. These enriched embeddings could feed fraud detection, anti-money-laundering, credit risk, customer segmentation, recommendation, or transaction classification - any task that benefits from knowing how entities relate to each other. I want to be clear this is a research hypothesis for Stage 2, not a completed contribution. [~1.1 min]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I reproduced and generalized NVIDIA's Transaction Foundation Model; I demonstrated that the learned transaction representations transfer across datasets; I identified an important limitation in current transaction representation learning - the absence of relational structure; and I propose enriching these representations with relational information as a Stage 2 hypothesis. Throughout this talk, fraud detection was the benchmark, not the goal - the contribution is a general-purpose transaction representation, evaluated through one convenient downstream lens. Thank you, I'm happy to take questions. [~0.6 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FF9900"/>
          </a:solidFill>
          <a:ln/>
        </p:spPr>
        <p:txBody>
          <a:bodyPr/>
          <a:lstStyle/>
          <a:p>
            <a:endParaRPr lang="en-IN"/>
          </a:p>
        </p:txBody>
      </p:sp>
      <p:pic>
        <p:nvPicPr>
          <p:cNvPr id="3" name="Image 0" descr="/home/claude/assets/iit_logo.png"/>
          <p:cNvPicPr>
            <a:picLocks noChangeAspect="1"/>
          </p:cNvPicPr>
          <p:nvPr/>
        </p:nvPicPr>
        <p:blipFill>
          <a:blip r:embed="rId3"/>
          <a:stretch>
            <a:fillRect/>
          </a:stretch>
        </p:blipFill>
        <p:spPr>
          <a:xfrm>
            <a:off x="502920" y="365760"/>
            <a:ext cx="2743200" cy="645459"/>
          </a:xfrm>
          <a:prstGeom prst="rect">
            <a:avLst/>
          </a:prstGeom>
        </p:spPr>
      </p:pic>
      <p:sp>
        <p:nvSpPr>
          <p:cNvPr id="4" name="Text 1"/>
          <p:cNvSpPr/>
          <p:nvPr/>
        </p:nvSpPr>
        <p:spPr>
          <a:xfrm>
            <a:off x="0" y="1783080"/>
            <a:ext cx="12191695" cy="365760"/>
          </a:xfrm>
          <a:prstGeom prst="rect">
            <a:avLst/>
          </a:prstGeom>
          <a:noFill/>
          <a:ln/>
        </p:spPr>
        <p:txBody>
          <a:bodyPr wrap="square" lIns="0" tIns="0" rIns="0" bIns="0" rtlCol="0" anchor="ctr"/>
          <a:lstStyle/>
          <a:p>
            <a:pPr marL="0" indent="0" algn="ctr">
              <a:buNone/>
            </a:pPr>
            <a:r>
              <a:rPr lang="en-US" sz="1500" b="1" dirty="0">
                <a:solidFill>
                  <a:srgbClr val="EA580C"/>
                </a:solidFill>
                <a:latin typeface="Arial" pitchFamily="34" charset="0"/>
                <a:ea typeface="Arial" pitchFamily="34" charset="-122"/>
                <a:cs typeface="Arial" pitchFamily="34" charset="-120"/>
              </a:rPr>
              <a:t>STAGE-1 THESIS EVALUATION</a:t>
            </a:r>
            <a:endParaRPr lang="en-US" sz="1500" dirty="0"/>
          </a:p>
        </p:txBody>
      </p:sp>
      <p:sp>
        <p:nvSpPr>
          <p:cNvPr id="5" name="Text 2"/>
          <p:cNvSpPr/>
          <p:nvPr/>
        </p:nvSpPr>
        <p:spPr>
          <a:xfrm>
            <a:off x="731520" y="2176272"/>
            <a:ext cx="10728655" cy="1417320"/>
          </a:xfrm>
          <a:prstGeom prst="rect">
            <a:avLst/>
          </a:prstGeom>
          <a:noFill/>
          <a:ln/>
        </p:spPr>
        <p:txBody>
          <a:bodyPr wrap="square" lIns="0" tIns="0" rIns="0" bIns="0" rtlCol="0" anchor="t"/>
          <a:lstStyle/>
          <a:p>
            <a:pPr marL="0" indent="0" algn="ctr">
              <a:lnSpc>
                <a:spcPct val="120000"/>
              </a:lnSpc>
              <a:buNone/>
            </a:pPr>
            <a:r>
              <a:rPr lang="en-US" sz="2900" b="1" dirty="0">
                <a:solidFill>
                  <a:srgbClr val="000000"/>
                </a:solidFill>
                <a:latin typeface="Arial" pitchFamily="34" charset="0"/>
                <a:ea typeface="Arial" pitchFamily="34" charset="-122"/>
                <a:cs typeface="Arial" pitchFamily="34" charset="-120"/>
              </a:rPr>
              <a:t>Transaction Foundation Models for General-Purpose</a:t>
            </a:r>
            <a:endParaRPr lang="en-US" sz="2900" dirty="0"/>
          </a:p>
          <a:p>
            <a:pPr marL="0" indent="0" algn="ctr">
              <a:lnSpc>
                <a:spcPct val="120000"/>
              </a:lnSpc>
              <a:buNone/>
            </a:pPr>
            <a:r>
              <a:rPr lang="en-US" sz="2900" b="1" dirty="0">
                <a:solidFill>
                  <a:srgbClr val="000000"/>
                </a:solidFill>
                <a:latin typeface="Arial" pitchFamily="34" charset="0"/>
                <a:ea typeface="Arial" pitchFamily="34" charset="-122"/>
                <a:cs typeface="Arial" pitchFamily="34" charset="-120"/>
              </a:rPr>
              <a:t>Financial Representation Learning</a:t>
            </a:r>
            <a:endParaRPr lang="en-US" sz="2900" dirty="0"/>
          </a:p>
        </p:txBody>
      </p:sp>
      <p:sp>
        <p:nvSpPr>
          <p:cNvPr id="7" name="Text 4"/>
          <p:cNvSpPr/>
          <p:nvPr/>
        </p:nvSpPr>
        <p:spPr>
          <a:xfrm>
            <a:off x="9331" y="4069080"/>
            <a:ext cx="12191695" cy="320040"/>
          </a:xfrm>
          <a:prstGeom prst="rect">
            <a:avLst/>
          </a:prstGeom>
          <a:noFill/>
          <a:ln/>
        </p:spPr>
        <p:txBody>
          <a:bodyPr wrap="square" lIns="0" tIns="0" rIns="0" bIns="0" rtlCol="0" anchor="ctr"/>
          <a:lstStyle/>
          <a:p>
            <a:pPr marL="0" indent="0" algn="ctr">
              <a:buNone/>
            </a:pPr>
            <a:r>
              <a:rPr lang="en-US" sz="1300" dirty="0">
                <a:solidFill>
                  <a:srgbClr val="6B7280"/>
                </a:solidFill>
                <a:latin typeface="Arial" pitchFamily="34" charset="0"/>
                <a:ea typeface="Arial" pitchFamily="34" charset="-122"/>
                <a:cs typeface="Arial" pitchFamily="34" charset="-120"/>
              </a:rPr>
              <a:t>July 2026</a:t>
            </a:r>
            <a:endParaRPr lang="en-US" sz="1300" dirty="0"/>
          </a:p>
        </p:txBody>
      </p:sp>
      <p:sp>
        <p:nvSpPr>
          <p:cNvPr id="8" name="Shape 5"/>
          <p:cNvSpPr/>
          <p:nvPr/>
        </p:nvSpPr>
        <p:spPr>
          <a:xfrm>
            <a:off x="5090008" y="4453128"/>
            <a:ext cx="2011680" cy="0"/>
          </a:xfrm>
          <a:prstGeom prst="line">
            <a:avLst/>
          </a:prstGeom>
          <a:noFill/>
          <a:ln w="31750">
            <a:solidFill>
              <a:srgbClr val="FF9900"/>
            </a:solidFill>
            <a:prstDash val="solid"/>
          </a:ln>
        </p:spPr>
        <p:txBody>
          <a:bodyPr/>
          <a:lstStyle/>
          <a:p>
            <a:endParaRPr lang="en-IN"/>
          </a:p>
        </p:txBody>
      </p:sp>
      <p:sp>
        <p:nvSpPr>
          <p:cNvPr id="9" name="Shape 6"/>
          <p:cNvSpPr/>
          <p:nvPr/>
        </p:nvSpPr>
        <p:spPr>
          <a:xfrm>
            <a:off x="929488" y="5074920"/>
            <a:ext cx="4937760" cy="1188720"/>
          </a:xfrm>
          <a:prstGeom prst="roundRect">
            <a:avLst>
              <a:gd name="adj" fmla="val 6923"/>
            </a:avLst>
          </a:prstGeom>
          <a:solidFill>
            <a:srgbClr val="F8FAFC"/>
          </a:solidFill>
          <a:ln w="12700">
            <a:solidFill>
              <a:srgbClr val="E2E8F0"/>
            </a:solidFill>
            <a:prstDash val="solid"/>
          </a:ln>
        </p:spPr>
        <p:txBody>
          <a:bodyPr/>
          <a:lstStyle/>
          <a:p>
            <a:pPr algn="ctr">
              <a:lnSpc>
                <a:spcPct val="125000"/>
              </a:lnSpc>
            </a:pPr>
            <a:r>
              <a:rPr lang="en-US" dirty="0">
                <a:solidFill>
                  <a:srgbClr val="6B7280"/>
                </a:solidFill>
              </a:rPr>
              <a:t>Presented by</a:t>
            </a:r>
            <a:endParaRPr lang="en-US" dirty="0"/>
          </a:p>
          <a:p>
            <a:pPr algn="ctr">
              <a:lnSpc>
                <a:spcPct val="130000"/>
              </a:lnSpc>
            </a:pPr>
            <a:r>
              <a:rPr lang="en-US" sz="2000" b="1" dirty="0">
                <a:solidFill>
                  <a:srgbClr val="000000"/>
                </a:solidFill>
              </a:rPr>
              <a:t>Hemang Ranga</a:t>
            </a:r>
          </a:p>
          <a:p>
            <a:pPr algn="ctr">
              <a:lnSpc>
                <a:spcPct val="130000"/>
              </a:lnSpc>
            </a:pPr>
            <a:r>
              <a:rPr lang="en-US" sz="1700" dirty="0">
                <a:solidFill>
                  <a:srgbClr val="000000"/>
                </a:solidFill>
              </a:rPr>
              <a:t>CS25MTECH14005</a:t>
            </a:r>
            <a:endParaRPr lang="en-IN" sz="1700" dirty="0"/>
          </a:p>
        </p:txBody>
      </p:sp>
      <p:sp>
        <p:nvSpPr>
          <p:cNvPr id="10" name="Text 7"/>
          <p:cNvSpPr/>
          <p:nvPr/>
        </p:nvSpPr>
        <p:spPr>
          <a:xfrm>
            <a:off x="929488" y="5074920"/>
            <a:ext cx="4937760" cy="1188720"/>
          </a:xfrm>
          <a:prstGeom prst="rect">
            <a:avLst/>
          </a:prstGeom>
          <a:noFill/>
          <a:ln/>
        </p:spPr>
        <p:txBody>
          <a:bodyPr wrap="square" lIns="0" tIns="0" rIns="0" bIns="0" rtlCol="0" anchor="ctr"/>
          <a:lstStyle/>
          <a:p>
            <a:pPr marL="0" indent="0" algn="ctr">
              <a:lnSpc>
                <a:spcPct val="130000"/>
              </a:lnSpc>
              <a:buNone/>
            </a:pPr>
            <a:endParaRPr lang="en-US" sz="1300" dirty="0"/>
          </a:p>
        </p:txBody>
      </p:sp>
      <p:sp>
        <p:nvSpPr>
          <p:cNvPr id="11" name="Shape 8"/>
          <p:cNvSpPr/>
          <p:nvPr/>
        </p:nvSpPr>
        <p:spPr>
          <a:xfrm>
            <a:off x="6324448" y="5091343"/>
            <a:ext cx="4937760" cy="1188720"/>
          </a:xfrm>
          <a:prstGeom prst="roundRect">
            <a:avLst>
              <a:gd name="adj" fmla="val 6923"/>
            </a:avLst>
          </a:prstGeom>
          <a:solidFill>
            <a:srgbClr val="F8FAFC"/>
          </a:solidFill>
          <a:ln w="12700">
            <a:solidFill>
              <a:srgbClr val="E2E8F0"/>
            </a:solidFill>
            <a:prstDash val="solid"/>
          </a:ln>
        </p:spPr>
        <p:txBody>
          <a:bodyPr/>
          <a:lstStyle/>
          <a:p>
            <a:endParaRPr lang="en-IN"/>
          </a:p>
        </p:txBody>
      </p:sp>
      <p:sp>
        <p:nvSpPr>
          <p:cNvPr id="12" name="Text 9"/>
          <p:cNvSpPr/>
          <p:nvPr/>
        </p:nvSpPr>
        <p:spPr>
          <a:xfrm>
            <a:off x="6324448" y="5074920"/>
            <a:ext cx="4937760" cy="1188720"/>
          </a:xfrm>
          <a:prstGeom prst="rect">
            <a:avLst/>
          </a:prstGeom>
          <a:noFill/>
          <a:ln/>
        </p:spPr>
        <p:txBody>
          <a:bodyPr wrap="square" lIns="0" tIns="0" rIns="0" bIns="0" rtlCol="0" anchor="ctr"/>
          <a:lstStyle/>
          <a:p>
            <a:pPr marL="0" indent="0" algn="ctr">
              <a:lnSpc>
                <a:spcPct val="125000"/>
              </a:lnSpc>
              <a:buNone/>
            </a:pPr>
            <a:r>
              <a:rPr lang="en-US" sz="1600" b="1" dirty="0">
                <a:solidFill>
                  <a:srgbClr val="000000"/>
                </a:solidFill>
              </a:rPr>
              <a:t>
</a:t>
            </a:r>
            <a:r>
              <a:rPr lang="en-US" sz="1300" dirty="0">
                <a:solidFill>
                  <a:srgbClr val="6B7280"/>
                </a:solidFill>
              </a:rPr>
              <a:t>Under the Guidance of</a:t>
            </a:r>
            <a:endParaRPr lang="en-US" sz="1300" dirty="0"/>
          </a:p>
          <a:p>
            <a:pPr algn="ctr">
              <a:lnSpc>
                <a:spcPct val="130000"/>
              </a:lnSpc>
            </a:pPr>
            <a:r>
              <a:rPr lang="en-US" sz="1600" b="1" dirty="0">
                <a:solidFill>
                  <a:srgbClr val="000000"/>
                </a:solidFill>
              </a:rPr>
              <a:t>Prof. Sobhan Babu</a:t>
            </a:r>
            <a:endParaRPr lang="en-US" sz="1300" dirty="0"/>
          </a:p>
          <a:p>
            <a:pPr marL="0" indent="0" algn="ctr">
              <a:lnSpc>
                <a:spcPct val="125000"/>
              </a:lnSpc>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Motivation</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502920" y="1280160"/>
            <a:ext cx="3429000" cy="1554480"/>
          </a:xfrm>
          <a:prstGeom prst="roundRect">
            <a:avLst>
              <a:gd name="adj" fmla="val 5294"/>
            </a:avLst>
          </a:prstGeom>
          <a:solidFill>
            <a:srgbClr val="F8FAFC"/>
          </a:solidFill>
          <a:ln w="12700">
            <a:solidFill>
              <a:srgbClr val="E2E8F0"/>
            </a:solidFill>
            <a:prstDash val="solid"/>
          </a:ln>
        </p:spPr>
        <p:txBody>
          <a:bodyPr/>
          <a:lstStyle/>
          <a:p>
            <a:endParaRPr lang="en-IN"/>
          </a:p>
        </p:txBody>
      </p:sp>
      <p:sp>
        <p:nvSpPr>
          <p:cNvPr id="6" name="Text 3"/>
          <p:cNvSpPr/>
          <p:nvPr/>
        </p:nvSpPr>
        <p:spPr>
          <a:xfrm>
            <a:off x="685800" y="1444752"/>
            <a:ext cx="3063240" cy="365760"/>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Language</a:t>
            </a:r>
            <a:endParaRPr lang="en-US" sz="1600" dirty="0"/>
          </a:p>
        </p:txBody>
      </p:sp>
      <p:sp>
        <p:nvSpPr>
          <p:cNvPr id="7" name="Text 4"/>
          <p:cNvSpPr/>
          <p:nvPr/>
        </p:nvSpPr>
        <p:spPr>
          <a:xfrm>
            <a:off x="777240" y="1874520"/>
            <a:ext cx="2880360" cy="822960"/>
          </a:xfrm>
          <a:prstGeom prst="rect">
            <a:avLst/>
          </a:prstGeom>
          <a:noFill/>
          <a:ln/>
        </p:spPr>
        <p:txBody>
          <a:bodyPr wrap="square" lIns="0" tIns="0" rIns="0" bIns="0" rtlCol="0" anchor="t"/>
          <a:lstStyle/>
          <a:p>
            <a:pPr marL="0" indent="0" algn="ctr">
              <a:buNone/>
            </a:pPr>
            <a:r>
              <a:rPr lang="en-US" sz="1250" dirty="0">
                <a:solidFill>
                  <a:srgbClr val="1A1A1A"/>
                </a:solidFill>
                <a:latin typeface="Arial" pitchFamily="34" charset="0"/>
                <a:ea typeface="Arial" pitchFamily="34" charset="-122"/>
                <a:cs typeface="Arial" pitchFamily="34" charset="-120"/>
              </a:rPr>
              <a:t>LLMs learn universal representations of text, reusable across many NLP tasks.</a:t>
            </a:r>
            <a:endParaRPr lang="en-US" sz="1250" dirty="0"/>
          </a:p>
        </p:txBody>
      </p:sp>
      <p:sp>
        <p:nvSpPr>
          <p:cNvPr id="8" name="Shape 5"/>
          <p:cNvSpPr/>
          <p:nvPr/>
        </p:nvSpPr>
        <p:spPr>
          <a:xfrm>
            <a:off x="4251960" y="1280160"/>
            <a:ext cx="3429000" cy="1554480"/>
          </a:xfrm>
          <a:prstGeom prst="roundRect">
            <a:avLst>
              <a:gd name="adj" fmla="val 5294"/>
            </a:avLst>
          </a:prstGeom>
          <a:solidFill>
            <a:srgbClr val="F8FAFC"/>
          </a:solidFill>
          <a:ln w="12700">
            <a:solidFill>
              <a:srgbClr val="E2E8F0"/>
            </a:solidFill>
            <a:prstDash val="solid"/>
          </a:ln>
        </p:spPr>
        <p:txBody>
          <a:bodyPr/>
          <a:lstStyle/>
          <a:p>
            <a:endParaRPr lang="en-IN"/>
          </a:p>
        </p:txBody>
      </p:sp>
      <p:sp>
        <p:nvSpPr>
          <p:cNvPr id="9" name="Text 6"/>
          <p:cNvSpPr/>
          <p:nvPr/>
        </p:nvSpPr>
        <p:spPr>
          <a:xfrm>
            <a:off x="4434840" y="1444752"/>
            <a:ext cx="3063240" cy="365760"/>
          </a:xfrm>
          <a:prstGeom prst="rect">
            <a:avLst/>
          </a:prstGeom>
          <a:noFill/>
          <a:ln/>
        </p:spPr>
        <p:txBody>
          <a:bodyPr wrap="square" lIns="0" tIns="0" rIns="0" bIns="0" rtlCol="0" anchor="ctr"/>
          <a:lstStyle/>
          <a:p>
            <a:pPr marL="0" indent="0" algn="ctr">
              <a:buNone/>
            </a:pPr>
            <a:r>
              <a:rPr lang="en-US" sz="1600" b="1" dirty="0">
                <a:solidFill>
                  <a:srgbClr val="000000"/>
                </a:solidFill>
                <a:latin typeface="Arial" pitchFamily="34" charset="0"/>
                <a:ea typeface="Arial" pitchFamily="34" charset="-122"/>
                <a:cs typeface="Arial" pitchFamily="34" charset="-120"/>
              </a:rPr>
              <a:t>Vision</a:t>
            </a:r>
            <a:endParaRPr lang="en-US" sz="1600" dirty="0"/>
          </a:p>
        </p:txBody>
      </p:sp>
      <p:sp>
        <p:nvSpPr>
          <p:cNvPr id="10" name="Text 7"/>
          <p:cNvSpPr/>
          <p:nvPr/>
        </p:nvSpPr>
        <p:spPr>
          <a:xfrm>
            <a:off x="4526280" y="1874520"/>
            <a:ext cx="2880360" cy="822960"/>
          </a:xfrm>
          <a:prstGeom prst="rect">
            <a:avLst/>
          </a:prstGeom>
          <a:noFill/>
          <a:ln/>
        </p:spPr>
        <p:txBody>
          <a:bodyPr wrap="square" lIns="0" tIns="0" rIns="0" bIns="0" rtlCol="0" anchor="t"/>
          <a:lstStyle/>
          <a:p>
            <a:pPr marL="0" indent="0" algn="ctr">
              <a:buNone/>
            </a:pPr>
            <a:r>
              <a:rPr lang="en-US" sz="1250" dirty="0">
                <a:solidFill>
                  <a:srgbClr val="1A1A1A"/>
                </a:solidFill>
                <a:latin typeface="Arial" pitchFamily="34" charset="0"/>
                <a:ea typeface="Arial" pitchFamily="34" charset="-122"/>
                <a:cs typeface="Arial" pitchFamily="34" charset="-120"/>
              </a:rPr>
              <a:t>Vision foundation models learn universal representations of images.</a:t>
            </a:r>
            <a:endParaRPr lang="en-US" sz="1250" dirty="0"/>
          </a:p>
        </p:txBody>
      </p:sp>
      <p:sp>
        <p:nvSpPr>
          <p:cNvPr id="11" name="Shape 8"/>
          <p:cNvSpPr/>
          <p:nvPr/>
        </p:nvSpPr>
        <p:spPr>
          <a:xfrm>
            <a:off x="8001000" y="1280160"/>
            <a:ext cx="3429000" cy="1554480"/>
          </a:xfrm>
          <a:prstGeom prst="roundRect">
            <a:avLst>
              <a:gd name="adj" fmla="val 5294"/>
            </a:avLst>
          </a:prstGeom>
          <a:solidFill>
            <a:srgbClr val="FFF7ED"/>
          </a:solidFill>
          <a:ln w="15875">
            <a:solidFill>
              <a:srgbClr val="FF9900"/>
            </a:solidFill>
            <a:prstDash val="solid"/>
          </a:ln>
        </p:spPr>
        <p:txBody>
          <a:bodyPr/>
          <a:lstStyle/>
          <a:p>
            <a:endParaRPr lang="en-IN"/>
          </a:p>
        </p:txBody>
      </p:sp>
      <p:sp>
        <p:nvSpPr>
          <p:cNvPr id="12" name="Text 9"/>
          <p:cNvSpPr/>
          <p:nvPr/>
        </p:nvSpPr>
        <p:spPr>
          <a:xfrm>
            <a:off x="8183880" y="1444752"/>
            <a:ext cx="3063240" cy="365760"/>
          </a:xfrm>
          <a:prstGeom prst="rect">
            <a:avLst/>
          </a:prstGeom>
          <a:noFill/>
          <a:ln/>
        </p:spPr>
        <p:txBody>
          <a:bodyPr wrap="square" lIns="0" tIns="0" rIns="0" bIns="0" rtlCol="0" anchor="ctr"/>
          <a:lstStyle/>
          <a:p>
            <a:pPr marL="0" indent="0" algn="ctr">
              <a:buNone/>
            </a:pPr>
            <a:r>
              <a:rPr lang="en-US" sz="1600" b="1" dirty="0">
                <a:solidFill>
                  <a:srgbClr val="EA580C"/>
                </a:solidFill>
                <a:latin typeface="Arial" pitchFamily="34" charset="0"/>
                <a:ea typeface="Arial" pitchFamily="34" charset="-122"/>
                <a:cs typeface="Arial" pitchFamily="34" charset="-120"/>
              </a:rPr>
              <a:t>Transactions?</a:t>
            </a:r>
            <a:endParaRPr lang="en-US" sz="1600" dirty="0"/>
          </a:p>
        </p:txBody>
      </p:sp>
      <p:sp>
        <p:nvSpPr>
          <p:cNvPr id="13" name="Text 10"/>
          <p:cNvSpPr/>
          <p:nvPr/>
        </p:nvSpPr>
        <p:spPr>
          <a:xfrm>
            <a:off x="8275320" y="1874520"/>
            <a:ext cx="2880360" cy="822960"/>
          </a:xfrm>
          <a:prstGeom prst="rect">
            <a:avLst/>
          </a:prstGeom>
          <a:noFill/>
          <a:ln/>
        </p:spPr>
        <p:txBody>
          <a:bodyPr wrap="square" lIns="0" tIns="0" rIns="0" bIns="0" rtlCol="0" anchor="t"/>
          <a:lstStyle/>
          <a:p>
            <a:pPr marL="0" indent="0" algn="ctr">
              <a:buNone/>
            </a:pPr>
            <a:r>
              <a:rPr lang="en-US" sz="1250" dirty="0">
                <a:solidFill>
                  <a:srgbClr val="1A1A1A"/>
                </a:solidFill>
                <a:latin typeface="Arial" pitchFamily="34" charset="0"/>
                <a:ea typeface="Arial" pitchFamily="34" charset="-122"/>
                <a:cs typeface="Arial" pitchFamily="34" charset="-120"/>
              </a:rPr>
              <a:t>Can we similarly learn universal representations of financial transactions?</a:t>
            </a:r>
            <a:endParaRPr lang="en-US" sz="1250" dirty="0"/>
          </a:p>
        </p:txBody>
      </p:sp>
      <p:sp>
        <p:nvSpPr>
          <p:cNvPr id="14" name="Text 11"/>
          <p:cNvSpPr/>
          <p:nvPr/>
        </p:nvSpPr>
        <p:spPr>
          <a:xfrm>
            <a:off x="502920" y="3017520"/>
            <a:ext cx="3657600" cy="32004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Why is this hard?</a:t>
            </a:r>
            <a:endParaRPr lang="en-US" sz="1300" dirty="0"/>
          </a:p>
        </p:txBody>
      </p:sp>
      <p:sp>
        <p:nvSpPr>
          <p:cNvPr id="15" name="Shape 12"/>
          <p:cNvSpPr/>
          <p:nvPr/>
        </p:nvSpPr>
        <p:spPr>
          <a:xfrm>
            <a:off x="502920" y="3429000"/>
            <a:ext cx="2514600" cy="502920"/>
          </a:xfrm>
          <a:prstGeom prst="roundRect">
            <a:avLst>
              <a:gd name="adj" fmla="val 45455"/>
            </a:avLst>
          </a:prstGeom>
          <a:solidFill>
            <a:srgbClr val="FFF7ED"/>
          </a:solidFill>
          <a:ln w="12700">
            <a:solidFill>
              <a:srgbClr val="FF9900"/>
            </a:solidFill>
            <a:prstDash val="solid"/>
          </a:ln>
        </p:spPr>
        <p:txBody>
          <a:bodyPr/>
          <a:lstStyle/>
          <a:p>
            <a:endParaRPr lang="en-IN"/>
          </a:p>
        </p:txBody>
      </p:sp>
      <p:sp>
        <p:nvSpPr>
          <p:cNvPr id="16" name="Text 13"/>
          <p:cNvSpPr/>
          <p:nvPr/>
        </p:nvSpPr>
        <p:spPr>
          <a:xfrm>
            <a:off x="502920" y="3429000"/>
            <a:ext cx="2514600" cy="502920"/>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Heterogeneous</a:t>
            </a:r>
            <a:endParaRPr lang="en-US" sz="1150" dirty="0"/>
          </a:p>
        </p:txBody>
      </p:sp>
      <p:sp>
        <p:nvSpPr>
          <p:cNvPr id="17" name="Shape 14"/>
          <p:cNvSpPr/>
          <p:nvPr/>
        </p:nvSpPr>
        <p:spPr>
          <a:xfrm>
            <a:off x="3246120" y="3429000"/>
            <a:ext cx="2514600" cy="502920"/>
          </a:xfrm>
          <a:prstGeom prst="roundRect">
            <a:avLst>
              <a:gd name="adj" fmla="val 45455"/>
            </a:avLst>
          </a:prstGeom>
          <a:solidFill>
            <a:srgbClr val="FFF7ED"/>
          </a:solidFill>
          <a:ln w="12700">
            <a:solidFill>
              <a:srgbClr val="FF9900"/>
            </a:solidFill>
            <a:prstDash val="solid"/>
          </a:ln>
        </p:spPr>
        <p:txBody>
          <a:bodyPr/>
          <a:lstStyle/>
          <a:p>
            <a:endParaRPr lang="en-IN"/>
          </a:p>
        </p:txBody>
      </p:sp>
      <p:sp>
        <p:nvSpPr>
          <p:cNvPr id="18" name="Text 15"/>
          <p:cNvSpPr/>
          <p:nvPr/>
        </p:nvSpPr>
        <p:spPr>
          <a:xfrm>
            <a:off x="3246120" y="3429000"/>
            <a:ext cx="2514600" cy="502920"/>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Structured</a:t>
            </a:r>
            <a:endParaRPr lang="en-US" sz="1150" dirty="0"/>
          </a:p>
        </p:txBody>
      </p:sp>
      <p:sp>
        <p:nvSpPr>
          <p:cNvPr id="19" name="Shape 16"/>
          <p:cNvSpPr/>
          <p:nvPr/>
        </p:nvSpPr>
        <p:spPr>
          <a:xfrm>
            <a:off x="5989320" y="3429000"/>
            <a:ext cx="2514600" cy="502920"/>
          </a:xfrm>
          <a:prstGeom prst="roundRect">
            <a:avLst>
              <a:gd name="adj" fmla="val 45455"/>
            </a:avLst>
          </a:prstGeom>
          <a:solidFill>
            <a:srgbClr val="FFF7ED"/>
          </a:solidFill>
          <a:ln w="12700">
            <a:solidFill>
              <a:srgbClr val="FF9900"/>
            </a:solidFill>
            <a:prstDash val="solid"/>
          </a:ln>
        </p:spPr>
        <p:txBody>
          <a:bodyPr/>
          <a:lstStyle/>
          <a:p>
            <a:endParaRPr lang="en-IN"/>
          </a:p>
        </p:txBody>
      </p:sp>
      <p:sp>
        <p:nvSpPr>
          <p:cNvPr id="20" name="Text 17"/>
          <p:cNvSpPr/>
          <p:nvPr/>
        </p:nvSpPr>
        <p:spPr>
          <a:xfrm>
            <a:off x="5989320" y="3429000"/>
            <a:ext cx="2514600" cy="502920"/>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Temporal</a:t>
            </a:r>
            <a:endParaRPr lang="en-US" sz="1150" dirty="0"/>
          </a:p>
        </p:txBody>
      </p:sp>
      <p:sp>
        <p:nvSpPr>
          <p:cNvPr id="21" name="Shape 18"/>
          <p:cNvSpPr/>
          <p:nvPr/>
        </p:nvSpPr>
        <p:spPr>
          <a:xfrm>
            <a:off x="8732520" y="3429000"/>
            <a:ext cx="2514600" cy="502920"/>
          </a:xfrm>
          <a:prstGeom prst="roundRect">
            <a:avLst>
              <a:gd name="adj" fmla="val 45455"/>
            </a:avLst>
          </a:prstGeom>
          <a:solidFill>
            <a:srgbClr val="FFF7ED"/>
          </a:solidFill>
          <a:ln w="12700">
            <a:solidFill>
              <a:srgbClr val="FF9900"/>
            </a:solidFill>
            <a:prstDash val="solid"/>
          </a:ln>
        </p:spPr>
        <p:txBody>
          <a:bodyPr/>
          <a:lstStyle/>
          <a:p>
            <a:endParaRPr lang="en-IN"/>
          </a:p>
        </p:txBody>
      </p:sp>
      <p:sp>
        <p:nvSpPr>
          <p:cNvPr id="22" name="Text 19"/>
          <p:cNvSpPr/>
          <p:nvPr/>
        </p:nvSpPr>
        <p:spPr>
          <a:xfrm>
            <a:off x="8732520" y="3429000"/>
            <a:ext cx="2514600" cy="502920"/>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Event-based</a:t>
            </a:r>
            <a:endParaRPr lang="en-US" sz="1150" dirty="0"/>
          </a:p>
        </p:txBody>
      </p:sp>
      <p:sp>
        <p:nvSpPr>
          <p:cNvPr id="23" name="Shape 20"/>
          <p:cNvSpPr/>
          <p:nvPr/>
        </p:nvSpPr>
        <p:spPr>
          <a:xfrm>
            <a:off x="502920" y="4297680"/>
            <a:ext cx="11183112" cy="1417320"/>
          </a:xfrm>
          <a:prstGeom prst="roundRect">
            <a:avLst>
              <a:gd name="adj" fmla="val 5806"/>
            </a:avLst>
          </a:prstGeom>
          <a:solidFill>
            <a:srgbClr val="FFF7ED"/>
          </a:solidFill>
          <a:ln w="15875">
            <a:solidFill>
              <a:srgbClr val="FF9900"/>
            </a:solidFill>
            <a:prstDash val="solid"/>
          </a:ln>
        </p:spPr>
        <p:txBody>
          <a:bodyPr/>
          <a:lstStyle/>
          <a:p>
            <a:endParaRPr lang="en-IN"/>
          </a:p>
        </p:txBody>
      </p:sp>
      <p:sp>
        <p:nvSpPr>
          <p:cNvPr id="24" name="Text 21"/>
          <p:cNvSpPr/>
          <p:nvPr/>
        </p:nvSpPr>
        <p:spPr>
          <a:xfrm>
            <a:off x="822960" y="4434840"/>
            <a:ext cx="10561320" cy="1143000"/>
          </a:xfrm>
          <a:prstGeom prst="rect">
            <a:avLst/>
          </a:prstGeom>
          <a:noFill/>
          <a:ln/>
        </p:spPr>
        <p:txBody>
          <a:bodyPr wrap="square" lIns="0" tIns="0" rIns="0" bIns="0" rtlCol="0" anchor="ctr"/>
          <a:lstStyle/>
          <a:p>
            <a:pPr marL="0" indent="0" algn="ctr">
              <a:lnSpc>
                <a:spcPct val="120000"/>
              </a:lnSpc>
              <a:buNone/>
            </a:pPr>
            <a:r>
              <a:rPr lang="en-US" sz="1450" b="1" i="1" dirty="0">
                <a:solidFill>
                  <a:srgbClr val="EA580C"/>
                </a:solidFill>
                <a:latin typeface="Arial" pitchFamily="34" charset="0"/>
                <a:ea typeface="Arial" pitchFamily="34" charset="-122"/>
                <a:cs typeface="Arial" pitchFamily="34" charset="-120"/>
              </a:rPr>
              <a:t>Thesis goal:  </a:t>
            </a:r>
            <a:r>
              <a:rPr lang="en-US" sz="1450" b="1" i="1" dirty="0">
                <a:solidFill>
                  <a:srgbClr val="000000"/>
                </a:solidFill>
                <a:latin typeface="Arial" pitchFamily="34" charset="0"/>
                <a:ea typeface="Arial" pitchFamily="34" charset="-122"/>
                <a:cs typeface="Arial" pitchFamily="34" charset="-120"/>
              </a:rPr>
              <a:t>Learn a foundation model that produces general-purpose transaction embeddings, reusable across many downstream financial tasks.</a:t>
            </a:r>
            <a:endParaRPr lang="en-US"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Problem Statement</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502920" y="1218438"/>
            <a:ext cx="11183112" cy="841248"/>
          </a:xfrm>
          <a:prstGeom prst="roundRect">
            <a:avLst>
              <a:gd name="adj" fmla="val 9783"/>
            </a:avLst>
          </a:prstGeom>
          <a:solidFill>
            <a:srgbClr val="F8FAFC"/>
          </a:solidFill>
          <a:ln w="12700">
            <a:solidFill>
              <a:srgbClr val="E2E8F0"/>
            </a:solidFill>
            <a:prstDash val="solid"/>
          </a:ln>
        </p:spPr>
        <p:txBody>
          <a:bodyPr/>
          <a:lstStyle/>
          <a:p>
            <a:endParaRPr lang="en-IN"/>
          </a:p>
        </p:txBody>
      </p:sp>
      <p:sp>
        <p:nvSpPr>
          <p:cNvPr id="6" name="Text 3"/>
          <p:cNvSpPr/>
          <p:nvPr/>
        </p:nvSpPr>
        <p:spPr>
          <a:xfrm>
            <a:off x="731520" y="1207008"/>
            <a:ext cx="10725912" cy="841248"/>
          </a:xfrm>
          <a:prstGeom prst="rect">
            <a:avLst/>
          </a:prstGeom>
          <a:noFill/>
          <a:ln/>
        </p:spPr>
        <p:txBody>
          <a:bodyPr wrap="square" lIns="0" tIns="0" rIns="0" bIns="0" rtlCol="0" anchor="ctr"/>
          <a:lstStyle/>
          <a:p>
            <a:pPr marL="0" indent="0">
              <a:lnSpc>
                <a:spcPct val="112000"/>
              </a:lnSpc>
              <a:buNone/>
            </a:pPr>
            <a:r>
              <a:rPr lang="en-US" sz="1350" b="1" dirty="0">
                <a:solidFill>
                  <a:srgbClr val="EA580C"/>
                </a:solidFill>
              </a:rPr>
              <a:t>01  </a:t>
            </a:r>
            <a:r>
              <a:rPr lang="en-US" sz="1350" b="1" dirty="0">
                <a:solidFill>
                  <a:srgbClr val="000000"/>
                </a:solidFill>
              </a:rPr>
              <a:t>Reproduce:  </a:t>
            </a:r>
            <a:r>
              <a:rPr lang="en-US" sz="1350" dirty="0">
                <a:solidFill>
                  <a:srgbClr val="1A1A1A"/>
                </a:solidFill>
              </a:rPr>
              <a:t>Understand and reproduce NVIDIA's Transaction Foundation Model.</a:t>
            </a:r>
            <a:endParaRPr lang="en-US" sz="1350" dirty="0"/>
          </a:p>
        </p:txBody>
      </p:sp>
      <p:sp>
        <p:nvSpPr>
          <p:cNvPr id="7" name="Shape 4"/>
          <p:cNvSpPr/>
          <p:nvPr/>
        </p:nvSpPr>
        <p:spPr>
          <a:xfrm>
            <a:off x="502920" y="2176272"/>
            <a:ext cx="11183112" cy="841248"/>
          </a:xfrm>
          <a:prstGeom prst="roundRect">
            <a:avLst>
              <a:gd name="adj" fmla="val 9783"/>
            </a:avLst>
          </a:prstGeom>
          <a:solidFill>
            <a:srgbClr val="F8FAFC"/>
          </a:solidFill>
          <a:ln w="12700">
            <a:solidFill>
              <a:srgbClr val="E2E8F0"/>
            </a:solidFill>
            <a:prstDash val="solid"/>
          </a:ln>
        </p:spPr>
        <p:txBody>
          <a:bodyPr/>
          <a:lstStyle/>
          <a:p>
            <a:endParaRPr lang="en-IN"/>
          </a:p>
        </p:txBody>
      </p:sp>
      <p:sp>
        <p:nvSpPr>
          <p:cNvPr id="8" name="Text 5"/>
          <p:cNvSpPr/>
          <p:nvPr/>
        </p:nvSpPr>
        <p:spPr>
          <a:xfrm>
            <a:off x="731520" y="2176272"/>
            <a:ext cx="10725912" cy="841248"/>
          </a:xfrm>
          <a:prstGeom prst="rect">
            <a:avLst/>
          </a:prstGeom>
          <a:noFill/>
          <a:ln/>
        </p:spPr>
        <p:txBody>
          <a:bodyPr wrap="square" lIns="0" tIns="0" rIns="0" bIns="0" rtlCol="0" anchor="ctr"/>
          <a:lstStyle/>
          <a:p>
            <a:pPr marL="0" indent="0">
              <a:lnSpc>
                <a:spcPct val="112000"/>
              </a:lnSpc>
              <a:buNone/>
            </a:pPr>
            <a:r>
              <a:rPr lang="en-US" sz="1350" b="1" dirty="0">
                <a:solidFill>
                  <a:srgbClr val="EA580C"/>
                </a:solidFill>
              </a:rPr>
              <a:t>02  </a:t>
            </a:r>
            <a:r>
              <a:rPr lang="en-US" sz="1350" b="1" dirty="0">
                <a:solidFill>
                  <a:srgbClr val="000000"/>
                </a:solidFill>
              </a:rPr>
              <a:t>Validate Transfer:  </a:t>
            </a:r>
            <a:r>
              <a:rPr lang="en-US" sz="1350" dirty="0">
                <a:solidFill>
                  <a:srgbClr val="1A1A1A"/>
                </a:solidFill>
              </a:rPr>
              <a:t>Validate that learned transaction embeddings generalize across datasets.</a:t>
            </a:r>
            <a:endParaRPr lang="en-US" sz="1350" dirty="0"/>
          </a:p>
        </p:txBody>
      </p:sp>
      <p:sp>
        <p:nvSpPr>
          <p:cNvPr id="9" name="Shape 6"/>
          <p:cNvSpPr/>
          <p:nvPr/>
        </p:nvSpPr>
        <p:spPr>
          <a:xfrm>
            <a:off x="502920" y="3145536"/>
            <a:ext cx="11183112" cy="841248"/>
          </a:xfrm>
          <a:prstGeom prst="roundRect">
            <a:avLst>
              <a:gd name="adj" fmla="val 9783"/>
            </a:avLst>
          </a:prstGeom>
          <a:solidFill>
            <a:srgbClr val="F8FAFC"/>
          </a:solidFill>
          <a:ln w="12700">
            <a:solidFill>
              <a:srgbClr val="E2E8F0"/>
            </a:solidFill>
            <a:prstDash val="solid"/>
          </a:ln>
        </p:spPr>
        <p:txBody>
          <a:bodyPr/>
          <a:lstStyle/>
          <a:p>
            <a:endParaRPr lang="en-IN"/>
          </a:p>
        </p:txBody>
      </p:sp>
      <p:sp>
        <p:nvSpPr>
          <p:cNvPr id="10" name="Text 7"/>
          <p:cNvSpPr/>
          <p:nvPr/>
        </p:nvSpPr>
        <p:spPr>
          <a:xfrm>
            <a:off x="731520" y="3145536"/>
            <a:ext cx="10725912" cy="841248"/>
          </a:xfrm>
          <a:prstGeom prst="rect">
            <a:avLst/>
          </a:prstGeom>
          <a:noFill/>
          <a:ln/>
        </p:spPr>
        <p:txBody>
          <a:bodyPr wrap="square" lIns="0" tIns="0" rIns="0" bIns="0" rtlCol="0" anchor="ctr"/>
          <a:lstStyle/>
          <a:p>
            <a:pPr marL="0" indent="0">
              <a:lnSpc>
                <a:spcPct val="112000"/>
              </a:lnSpc>
              <a:buNone/>
            </a:pPr>
            <a:r>
              <a:rPr lang="en-US" sz="1350" b="1" dirty="0">
                <a:solidFill>
                  <a:srgbClr val="EA580C"/>
                </a:solidFill>
              </a:rPr>
              <a:t>03  </a:t>
            </a:r>
            <a:r>
              <a:rPr lang="en-US" sz="1350" b="1" dirty="0">
                <a:solidFill>
                  <a:srgbClr val="000000"/>
                </a:solidFill>
              </a:rPr>
              <a:t>Benchmark:  </a:t>
            </a:r>
            <a:r>
              <a:rPr lang="en-US" sz="1350" dirty="0">
                <a:solidFill>
                  <a:srgbClr val="1A1A1A"/>
                </a:solidFill>
              </a:rPr>
              <a:t>Evaluate these embeddings on a downstream task — fraud detection is used as the benchmark.</a:t>
            </a:r>
            <a:endParaRPr lang="en-US" sz="1350" dirty="0"/>
          </a:p>
        </p:txBody>
      </p:sp>
      <p:sp>
        <p:nvSpPr>
          <p:cNvPr id="11" name="Shape 8"/>
          <p:cNvSpPr/>
          <p:nvPr/>
        </p:nvSpPr>
        <p:spPr>
          <a:xfrm>
            <a:off x="502920" y="4114800"/>
            <a:ext cx="11183112" cy="841248"/>
          </a:xfrm>
          <a:prstGeom prst="roundRect">
            <a:avLst>
              <a:gd name="adj" fmla="val 9783"/>
            </a:avLst>
          </a:prstGeom>
          <a:solidFill>
            <a:srgbClr val="F8FAFC"/>
          </a:solidFill>
          <a:ln w="12700">
            <a:solidFill>
              <a:srgbClr val="E2E8F0"/>
            </a:solidFill>
            <a:prstDash val="solid"/>
          </a:ln>
        </p:spPr>
        <p:txBody>
          <a:bodyPr/>
          <a:lstStyle/>
          <a:p>
            <a:endParaRPr lang="en-IN"/>
          </a:p>
        </p:txBody>
      </p:sp>
      <p:sp>
        <p:nvSpPr>
          <p:cNvPr id="12" name="Text 9"/>
          <p:cNvSpPr/>
          <p:nvPr/>
        </p:nvSpPr>
        <p:spPr>
          <a:xfrm>
            <a:off x="731520" y="4114800"/>
            <a:ext cx="10725912" cy="841248"/>
          </a:xfrm>
          <a:prstGeom prst="rect">
            <a:avLst/>
          </a:prstGeom>
          <a:noFill/>
          <a:ln/>
        </p:spPr>
        <p:txBody>
          <a:bodyPr wrap="square" lIns="0" tIns="0" rIns="0" bIns="0" rtlCol="0" anchor="ctr"/>
          <a:lstStyle/>
          <a:p>
            <a:pPr marL="0" indent="0">
              <a:lnSpc>
                <a:spcPct val="112000"/>
              </a:lnSpc>
              <a:buNone/>
            </a:pPr>
            <a:r>
              <a:rPr lang="en-US" sz="1350" b="1" dirty="0">
                <a:solidFill>
                  <a:srgbClr val="EA580C"/>
                </a:solidFill>
              </a:rPr>
              <a:t>04  </a:t>
            </a:r>
            <a:r>
              <a:rPr lang="en-US" sz="1350" b="1" dirty="0">
                <a:solidFill>
                  <a:srgbClr val="000000"/>
                </a:solidFill>
              </a:rPr>
              <a:t>Identify Gap:  </a:t>
            </a:r>
            <a:r>
              <a:rPr lang="en-US" sz="1350" dirty="0">
                <a:solidFill>
                  <a:srgbClr val="1A1A1A"/>
                </a:solidFill>
              </a:rPr>
              <a:t>Identify limitations of current transaction representation learning.</a:t>
            </a:r>
            <a:endParaRPr lang="en-US" sz="1350" dirty="0"/>
          </a:p>
        </p:txBody>
      </p:sp>
      <p:sp>
        <p:nvSpPr>
          <p:cNvPr id="13" name="Shape 10"/>
          <p:cNvSpPr/>
          <p:nvPr/>
        </p:nvSpPr>
        <p:spPr>
          <a:xfrm>
            <a:off x="502920" y="5084064"/>
            <a:ext cx="11183112" cy="841248"/>
          </a:xfrm>
          <a:prstGeom prst="roundRect">
            <a:avLst>
              <a:gd name="adj" fmla="val 9783"/>
            </a:avLst>
          </a:prstGeom>
          <a:solidFill>
            <a:srgbClr val="FFF7ED"/>
          </a:solidFill>
          <a:ln w="19050">
            <a:solidFill>
              <a:srgbClr val="FF9900"/>
            </a:solidFill>
            <a:prstDash val="solid"/>
          </a:ln>
        </p:spPr>
        <p:txBody>
          <a:bodyPr/>
          <a:lstStyle/>
          <a:p>
            <a:endParaRPr lang="en-IN"/>
          </a:p>
        </p:txBody>
      </p:sp>
      <p:sp>
        <p:nvSpPr>
          <p:cNvPr id="14" name="Text 11"/>
          <p:cNvSpPr/>
          <p:nvPr/>
        </p:nvSpPr>
        <p:spPr>
          <a:xfrm>
            <a:off x="731520" y="5084064"/>
            <a:ext cx="10725912" cy="841248"/>
          </a:xfrm>
          <a:prstGeom prst="rect">
            <a:avLst/>
          </a:prstGeom>
          <a:noFill/>
          <a:ln/>
        </p:spPr>
        <p:txBody>
          <a:bodyPr wrap="square" lIns="0" tIns="0" rIns="0" bIns="0" rtlCol="0" anchor="ctr"/>
          <a:lstStyle/>
          <a:p>
            <a:pPr marL="0" indent="0">
              <a:lnSpc>
                <a:spcPct val="112000"/>
              </a:lnSpc>
              <a:buNone/>
            </a:pPr>
            <a:r>
              <a:rPr lang="en-US" sz="1350" b="1" dirty="0">
                <a:solidFill>
                  <a:srgbClr val="EA580C"/>
                </a:solidFill>
              </a:rPr>
              <a:t>05  </a:t>
            </a:r>
            <a:r>
              <a:rPr lang="en-US" sz="1350" b="1" dirty="0">
                <a:solidFill>
                  <a:srgbClr val="000000"/>
                </a:solidFill>
              </a:rPr>
              <a:t>Propose Extension:  </a:t>
            </a:r>
            <a:r>
              <a:rPr lang="en-US" sz="1350" dirty="0">
                <a:solidFill>
                  <a:srgbClr val="1A1A1A"/>
                </a:solidFill>
              </a:rPr>
              <a:t>Propose an extension for richer, relationally-aware transaction representations.</a:t>
            </a:r>
            <a:endParaRPr lang="en-US" sz="1350" dirty="0"/>
          </a:p>
        </p:txBody>
      </p:sp>
      <p:sp>
        <p:nvSpPr>
          <p:cNvPr id="15" name="Shape 12"/>
          <p:cNvSpPr/>
          <p:nvPr/>
        </p:nvSpPr>
        <p:spPr>
          <a:xfrm>
            <a:off x="9948672" y="5358384"/>
            <a:ext cx="1554480" cy="292608"/>
          </a:xfrm>
          <a:prstGeom prst="roundRect">
            <a:avLst>
              <a:gd name="adj" fmla="val 18750"/>
            </a:avLst>
          </a:prstGeom>
          <a:solidFill>
            <a:srgbClr val="FF9900"/>
          </a:solidFill>
          <a:ln/>
        </p:spPr>
        <p:txBody>
          <a:bodyPr/>
          <a:lstStyle/>
          <a:p>
            <a:endParaRPr lang="en-IN"/>
          </a:p>
        </p:txBody>
      </p:sp>
      <p:sp>
        <p:nvSpPr>
          <p:cNvPr id="16" name="Text 13"/>
          <p:cNvSpPr/>
          <p:nvPr/>
        </p:nvSpPr>
        <p:spPr>
          <a:xfrm>
            <a:off x="9948672" y="5358384"/>
            <a:ext cx="15544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FUTURE SCOPE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Evolution Toward General-Purpose Representations</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1700784" y="2112264"/>
            <a:ext cx="8961120" cy="0"/>
          </a:xfrm>
          <a:prstGeom prst="line">
            <a:avLst/>
          </a:prstGeom>
          <a:noFill/>
          <a:ln w="19050">
            <a:solidFill>
              <a:srgbClr val="C9CFD8"/>
            </a:solidFill>
            <a:prstDash val="solid"/>
          </a:ln>
        </p:spPr>
        <p:txBody>
          <a:bodyPr/>
          <a:lstStyle/>
          <a:p>
            <a:endParaRPr lang="en-IN"/>
          </a:p>
        </p:txBody>
      </p:sp>
      <p:sp>
        <p:nvSpPr>
          <p:cNvPr id="6" name="Shape 3"/>
          <p:cNvSpPr/>
          <p:nvPr/>
        </p:nvSpPr>
        <p:spPr>
          <a:xfrm>
            <a:off x="1554480" y="1965960"/>
            <a:ext cx="292608" cy="292608"/>
          </a:xfrm>
          <a:prstGeom prst="ellipse">
            <a:avLst/>
          </a:prstGeom>
          <a:solidFill>
            <a:srgbClr val="2F8F4E"/>
          </a:solidFill>
          <a:ln/>
        </p:spPr>
        <p:txBody>
          <a:bodyPr/>
          <a:lstStyle/>
          <a:p>
            <a:endParaRPr lang="en-IN"/>
          </a:p>
        </p:txBody>
      </p:sp>
      <p:sp>
        <p:nvSpPr>
          <p:cNvPr id="7" name="Text 4"/>
          <p:cNvSpPr/>
          <p:nvPr/>
        </p:nvSpPr>
        <p:spPr>
          <a:xfrm>
            <a:off x="502920" y="2395728"/>
            <a:ext cx="2103120" cy="594360"/>
          </a:xfrm>
          <a:prstGeom prst="rect">
            <a:avLst/>
          </a:prstGeom>
          <a:noFill/>
          <a:ln/>
        </p:spPr>
        <p:txBody>
          <a:bodyPr wrap="square" lIns="0" tIns="0" rIns="0" bIns="0" rtlCol="0" anchor="t"/>
          <a:lstStyle/>
          <a:p>
            <a:pPr marL="0" indent="0" algn="ctr">
              <a:buNone/>
            </a:pPr>
            <a:r>
              <a:rPr lang="en-US" sz="1250" b="1" dirty="0">
                <a:solidFill>
                  <a:srgbClr val="000000"/>
                </a:solidFill>
                <a:latin typeface="Arial" pitchFamily="34" charset="0"/>
                <a:ea typeface="Arial" pitchFamily="34" charset="-122"/>
                <a:cs typeface="Arial" pitchFamily="34" charset="-120"/>
              </a:rPr>
              <a:t>Rule-Based</a:t>
            </a:r>
            <a:endParaRPr lang="en-US" sz="1250" dirty="0"/>
          </a:p>
          <a:p>
            <a:pPr marL="0" indent="0" algn="ctr">
              <a:buNone/>
            </a:pPr>
            <a:r>
              <a:rPr lang="en-US" sz="1250" b="1" dirty="0">
                <a:solidFill>
                  <a:srgbClr val="000000"/>
                </a:solidFill>
                <a:latin typeface="Arial" pitchFamily="34" charset="0"/>
                <a:ea typeface="Arial" pitchFamily="34" charset="-122"/>
                <a:cs typeface="Arial" pitchFamily="34" charset="-120"/>
              </a:rPr>
              <a:t>Features</a:t>
            </a:r>
            <a:endParaRPr lang="en-US" sz="1250" dirty="0"/>
          </a:p>
        </p:txBody>
      </p:sp>
      <p:sp>
        <p:nvSpPr>
          <p:cNvPr id="8" name="Text 5"/>
          <p:cNvSpPr/>
          <p:nvPr/>
        </p:nvSpPr>
        <p:spPr>
          <a:xfrm>
            <a:off x="502920" y="3035808"/>
            <a:ext cx="2103120" cy="54864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Manual thresholds</a:t>
            </a:r>
            <a:endParaRPr lang="en-US" sz="1000" dirty="0"/>
          </a:p>
        </p:txBody>
      </p:sp>
      <p:sp>
        <p:nvSpPr>
          <p:cNvPr id="9" name="Shape 6"/>
          <p:cNvSpPr/>
          <p:nvPr/>
        </p:nvSpPr>
        <p:spPr>
          <a:xfrm>
            <a:off x="3794760" y="1965960"/>
            <a:ext cx="292608" cy="292608"/>
          </a:xfrm>
          <a:prstGeom prst="ellipse">
            <a:avLst/>
          </a:prstGeom>
          <a:solidFill>
            <a:srgbClr val="2563EB"/>
          </a:solidFill>
          <a:ln/>
        </p:spPr>
        <p:txBody>
          <a:bodyPr/>
          <a:lstStyle/>
          <a:p>
            <a:endParaRPr lang="en-IN"/>
          </a:p>
        </p:txBody>
      </p:sp>
      <p:sp>
        <p:nvSpPr>
          <p:cNvPr id="10" name="Text 7"/>
          <p:cNvSpPr/>
          <p:nvPr/>
        </p:nvSpPr>
        <p:spPr>
          <a:xfrm>
            <a:off x="2743200" y="2395728"/>
            <a:ext cx="2103120" cy="594360"/>
          </a:xfrm>
          <a:prstGeom prst="rect">
            <a:avLst/>
          </a:prstGeom>
          <a:noFill/>
          <a:ln/>
        </p:spPr>
        <p:txBody>
          <a:bodyPr wrap="square" lIns="0" tIns="0" rIns="0" bIns="0" rtlCol="0" anchor="t"/>
          <a:lstStyle/>
          <a:p>
            <a:pPr marL="0" indent="0" algn="ctr">
              <a:buNone/>
            </a:pPr>
            <a:r>
              <a:rPr lang="en-US" sz="1250" b="1" dirty="0">
                <a:solidFill>
                  <a:srgbClr val="000000"/>
                </a:solidFill>
                <a:latin typeface="Arial" pitchFamily="34" charset="0"/>
                <a:ea typeface="Arial" pitchFamily="34" charset="-122"/>
                <a:cs typeface="Arial" pitchFamily="34" charset="-120"/>
              </a:rPr>
              <a:t>Handcrafted</a:t>
            </a:r>
            <a:endParaRPr lang="en-US" sz="1250" dirty="0"/>
          </a:p>
          <a:p>
            <a:pPr marL="0" indent="0" algn="ctr">
              <a:buNone/>
            </a:pPr>
            <a:r>
              <a:rPr lang="en-US" sz="1250" b="1" dirty="0">
                <a:solidFill>
                  <a:srgbClr val="000000"/>
                </a:solidFill>
                <a:latin typeface="Arial" pitchFamily="34" charset="0"/>
                <a:ea typeface="Arial" pitchFamily="34" charset="-122"/>
                <a:cs typeface="Arial" pitchFamily="34" charset="-120"/>
              </a:rPr>
              <a:t>Features</a:t>
            </a:r>
            <a:endParaRPr lang="en-US" sz="1250" dirty="0"/>
          </a:p>
        </p:txBody>
      </p:sp>
      <p:sp>
        <p:nvSpPr>
          <p:cNvPr id="11" name="Text 8"/>
          <p:cNvSpPr/>
          <p:nvPr/>
        </p:nvSpPr>
        <p:spPr>
          <a:xfrm>
            <a:off x="2743200" y="3035808"/>
            <a:ext cx="2103120" cy="54864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RF / XGBoost</a:t>
            </a:r>
            <a:endParaRPr lang="en-US" sz="1000" dirty="0"/>
          </a:p>
        </p:txBody>
      </p:sp>
      <p:sp>
        <p:nvSpPr>
          <p:cNvPr id="12" name="Shape 9"/>
          <p:cNvSpPr/>
          <p:nvPr/>
        </p:nvSpPr>
        <p:spPr>
          <a:xfrm>
            <a:off x="6035040" y="1965960"/>
            <a:ext cx="292608" cy="292608"/>
          </a:xfrm>
          <a:prstGeom prst="ellipse">
            <a:avLst/>
          </a:prstGeom>
          <a:solidFill>
            <a:srgbClr val="B45309"/>
          </a:solidFill>
          <a:ln/>
        </p:spPr>
        <p:txBody>
          <a:bodyPr/>
          <a:lstStyle/>
          <a:p>
            <a:endParaRPr lang="en-IN"/>
          </a:p>
        </p:txBody>
      </p:sp>
      <p:sp>
        <p:nvSpPr>
          <p:cNvPr id="13" name="Text 10"/>
          <p:cNvSpPr/>
          <p:nvPr/>
        </p:nvSpPr>
        <p:spPr>
          <a:xfrm>
            <a:off x="4983480" y="2395728"/>
            <a:ext cx="2103120" cy="594360"/>
          </a:xfrm>
          <a:prstGeom prst="rect">
            <a:avLst/>
          </a:prstGeom>
          <a:noFill/>
          <a:ln/>
        </p:spPr>
        <p:txBody>
          <a:bodyPr wrap="square" lIns="0" tIns="0" rIns="0" bIns="0" rtlCol="0" anchor="t"/>
          <a:lstStyle/>
          <a:p>
            <a:pPr marL="0" indent="0" algn="ctr">
              <a:buNone/>
            </a:pPr>
            <a:r>
              <a:rPr lang="en-US" sz="1250" b="1" dirty="0">
                <a:solidFill>
                  <a:srgbClr val="000000"/>
                </a:solidFill>
                <a:latin typeface="Arial" pitchFamily="34" charset="0"/>
                <a:ea typeface="Arial" pitchFamily="34" charset="-122"/>
                <a:cs typeface="Arial" pitchFamily="34" charset="-120"/>
              </a:rPr>
              <a:t>Representation</a:t>
            </a:r>
            <a:endParaRPr lang="en-US" sz="1250" dirty="0"/>
          </a:p>
          <a:p>
            <a:pPr marL="0" indent="0" algn="ctr">
              <a:buNone/>
            </a:pPr>
            <a:r>
              <a:rPr lang="en-US" sz="1250" b="1" dirty="0">
                <a:solidFill>
                  <a:srgbClr val="000000"/>
                </a:solidFill>
                <a:latin typeface="Arial" pitchFamily="34" charset="0"/>
                <a:ea typeface="Arial" pitchFamily="34" charset="-122"/>
                <a:cs typeface="Arial" pitchFamily="34" charset="-120"/>
              </a:rPr>
              <a:t>Learning</a:t>
            </a:r>
            <a:endParaRPr lang="en-US" sz="1250" dirty="0"/>
          </a:p>
        </p:txBody>
      </p:sp>
      <p:sp>
        <p:nvSpPr>
          <p:cNvPr id="14" name="Text 11"/>
          <p:cNvSpPr/>
          <p:nvPr/>
        </p:nvSpPr>
        <p:spPr>
          <a:xfrm>
            <a:off x="4983480" y="3035808"/>
            <a:ext cx="2103120" cy="54864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Learned, not handcrafted</a:t>
            </a:r>
            <a:endParaRPr lang="en-US" sz="1000" dirty="0"/>
          </a:p>
        </p:txBody>
      </p:sp>
      <p:sp>
        <p:nvSpPr>
          <p:cNvPr id="15" name="Shape 12"/>
          <p:cNvSpPr/>
          <p:nvPr/>
        </p:nvSpPr>
        <p:spPr>
          <a:xfrm>
            <a:off x="8275320" y="1965960"/>
            <a:ext cx="292608" cy="292608"/>
          </a:xfrm>
          <a:prstGeom prst="ellipse">
            <a:avLst/>
          </a:prstGeom>
          <a:solidFill>
            <a:srgbClr val="9B2C2C"/>
          </a:solidFill>
          <a:ln/>
        </p:spPr>
        <p:txBody>
          <a:bodyPr/>
          <a:lstStyle/>
          <a:p>
            <a:endParaRPr lang="en-IN"/>
          </a:p>
        </p:txBody>
      </p:sp>
      <p:sp>
        <p:nvSpPr>
          <p:cNvPr id="16" name="Text 13"/>
          <p:cNvSpPr/>
          <p:nvPr/>
        </p:nvSpPr>
        <p:spPr>
          <a:xfrm>
            <a:off x="7223760" y="2395728"/>
            <a:ext cx="2103120" cy="594360"/>
          </a:xfrm>
          <a:prstGeom prst="rect">
            <a:avLst/>
          </a:prstGeom>
          <a:noFill/>
          <a:ln/>
        </p:spPr>
        <p:txBody>
          <a:bodyPr wrap="square" lIns="0" tIns="0" rIns="0" bIns="0" rtlCol="0" anchor="t"/>
          <a:lstStyle/>
          <a:p>
            <a:pPr marL="0" indent="0" algn="ctr">
              <a:buNone/>
            </a:pPr>
            <a:r>
              <a:rPr lang="en-US" sz="1250" b="1" dirty="0">
                <a:solidFill>
                  <a:srgbClr val="000000"/>
                </a:solidFill>
                <a:latin typeface="Arial" pitchFamily="34" charset="0"/>
                <a:ea typeface="Arial" pitchFamily="34" charset="-122"/>
                <a:cs typeface="Arial" pitchFamily="34" charset="-120"/>
              </a:rPr>
              <a:t>Transformer</a:t>
            </a:r>
            <a:endParaRPr lang="en-US" sz="1250" dirty="0"/>
          </a:p>
          <a:p>
            <a:pPr marL="0" indent="0" algn="ctr">
              <a:buNone/>
            </a:pPr>
            <a:r>
              <a:rPr lang="en-US" sz="1250" b="1" dirty="0">
                <a:solidFill>
                  <a:srgbClr val="000000"/>
                </a:solidFill>
                <a:latin typeface="Arial" pitchFamily="34" charset="0"/>
                <a:ea typeface="Arial" pitchFamily="34" charset="-122"/>
                <a:cs typeface="Arial" pitchFamily="34" charset="-120"/>
              </a:rPr>
              <a:t>Representations</a:t>
            </a:r>
            <a:endParaRPr lang="en-US" sz="1250" dirty="0"/>
          </a:p>
        </p:txBody>
      </p:sp>
      <p:sp>
        <p:nvSpPr>
          <p:cNvPr id="17" name="Text 14"/>
          <p:cNvSpPr/>
          <p:nvPr/>
        </p:nvSpPr>
        <p:spPr>
          <a:xfrm>
            <a:off x="7223760" y="3035808"/>
            <a:ext cx="2103120" cy="54864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Contextual, sequence-aware</a:t>
            </a:r>
            <a:endParaRPr lang="en-US" sz="1000" dirty="0"/>
          </a:p>
        </p:txBody>
      </p:sp>
      <p:sp>
        <p:nvSpPr>
          <p:cNvPr id="18" name="Shape 15"/>
          <p:cNvSpPr/>
          <p:nvPr/>
        </p:nvSpPr>
        <p:spPr>
          <a:xfrm>
            <a:off x="10515600" y="1965960"/>
            <a:ext cx="292608" cy="292608"/>
          </a:xfrm>
          <a:prstGeom prst="ellipse">
            <a:avLst/>
          </a:prstGeom>
          <a:solidFill>
            <a:srgbClr val="EA580C"/>
          </a:solidFill>
          <a:ln/>
        </p:spPr>
        <p:txBody>
          <a:bodyPr/>
          <a:lstStyle/>
          <a:p>
            <a:endParaRPr lang="en-IN"/>
          </a:p>
        </p:txBody>
      </p:sp>
      <p:sp>
        <p:nvSpPr>
          <p:cNvPr id="19" name="Text 16"/>
          <p:cNvSpPr/>
          <p:nvPr/>
        </p:nvSpPr>
        <p:spPr>
          <a:xfrm>
            <a:off x="9464040" y="2395728"/>
            <a:ext cx="2103120" cy="594360"/>
          </a:xfrm>
          <a:prstGeom prst="rect">
            <a:avLst/>
          </a:prstGeom>
          <a:noFill/>
          <a:ln/>
        </p:spPr>
        <p:txBody>
          <a:bodyPr wrap="square" lIns="0" tIns="0" rIns="0" bIns="0" rtlCol="0" anchor="t"/>
          <a:lstStyle/>
          <a:p>
            <a:pPr marL="0" indent="0" algn="ctr">
              <a:buNone/>
            </a:pPr>
            <a:r>
              <a:rPr lang="en-US" sz="1250" b="1" dirty="0">
                <a:solidFill>
                  <a:srgbClr val="000000"/>
                </a:solidFill>
                <a:latin typeface="Arial" pitchFamily="34" charset="0"/>
                <a:ea typeface="Arial" pitchFamily="34" charset="-122"/>
                <a:cs typeface="Arial" pitchFamily="34" charset="-120"/>
              </a:rPr>
              <a:t>Foundation</a:t>
            </a:r>
            <a:endParaRPr lang="en-US" sz="1250" dirty="0"/>
          </a:p>
          <a:p>
            <a:pPr marL="0" indent="0" algn="ctr">
              <a:buNone/>
            </a:pPr>
            <a:r>
              <a:rPr lang="en-US" sz="1250" b="1" dirty="0">
                <a:solidFill>
                  <a:srgbClr val="000000"/>
                </a:solidFill>
                <a:latin typeface="Arial" pitchFamily="34" charset="0"/>
                <a:ea typeface="Arial" pitchFamily="34" charset="-122"/>
                <a:cs typeface="Arial" pitchFamily="34" charset="-120"/>
              </a:rPr>
              <a:t>Models</a:t>
            </a:r>
            <a:endParaRPr lang="en-US" sz="1250" dirty="0"/>
          </a:p>
        </p:txBody>
      </p:sp>
      <p:sp>
        <p:nvSpPr>
          <p:cNvPr id="20" name="Text 17"/>
          <p:cNvSpPr/>
          <p:nvPr/>
        </p:nvSpPr>
        <p:spPr>
          <a:xfrm>
            <a:off x="9464040" y="3035808"/>
            <a:ext cx="2103120" cy="548640"/>
          </a:xfrm>
          <a:prstGeom prst="rect">
            <a:avLst/>
          </a:prstGeom>
          <a:noFill/>
          <a:ln/>
        </p:spPr>
        <p:txBody>
          <a:bodyPr wrap="square" lIns="0" tIns="0" rIns="0" bIns="0" rtlCol="0" anchor="ctr"/>
          <a:lstStyle/>
          <a:p>
            <a:pPr marL="0" indent="0" algn="ctr">
              <a:buNone/>
            </a:pPr>
            <a:r>
              <a:rPr lang="en-US" sz="1000" dirty="0">
                <a:solidFill>
                  <a:srgbClr val="6B7280"/>
                </a:solidFill>
                <a:latin typeface="Arial" pitchFamily="34" charset="0"/>
                <a:ea typeface="Arial" pitchFamily="34" charset="-122"/>
                <a:cs typeface="Arial" pitchFamily="34" charset="-120"/>
              </a:rPr>
              <a:t>Pretrained once, reused everywhere</a:t>
            </a:r>
            <a:endParaRPr lang="en-US" sz="1000" dirty="0"/>
          </a:p>
        </p:txBody>
      </p:sp>
      <p:sp>
        <p:nvSpPr>
          <p:cNvPr id="21" name="Shape 18"/>
          <p:cNvSpPr/>
          <p:nvPr/>
        </p:nvSpPr>
        <p:spPr>
          <a:xfrm>
            <a:off x="502920" y="4114800"/>
            <a:ext cx="11183112" cy="1691640"/>
          </a:xfrm>
          <a:prstGeom prst="roundRect">
            <a:avLst>
              <a:gd name="adj" fmla="val 4865"/>
            </a:avLst>
          </a:prstGeom>
          <a:solidFill>
            <a:srgbClr val="FFF7ED"/>
          </a:solidFill>
          <a:ln w="15875">
            <a:solidFill>
              <a:srgbClr val="FF9900"/>
            </a:solidFill>
            <a:prstDash val="solid"/>
          </a:ln>
        </p:spPr>
        <p:txBody>
          <a:bodyPr/>
          <a:lstStyle/>
          <a:p>
            <a:endParaRPr lang="en-IN"/>
          </a:p>
        </p:txBody>
      </p:sp>
      <p:sp>
        <p:nvSpPr>
          <p:cNvPr id="22" name="Text 19"/>
          <p:cNvSpPr/>
          <p:nvPr/>
        </p:nvSpPr>
        <p:spPr>
          <a:xfrm>
            <a:off x="822960" y="4251960"/>
            <a:ext cx="10561320" cy="1417320"/>
          </a:xfrm>
          <a:prstGeom prst="rect">
            <a:avLst/>
          </a:prstGeom>
          <a:noFill/>
          <a:ln/>
        </p:spPr>
        <p:txBody>
          <a:bodyPr wrap="square" lIns="0" tIns="0" rIns="0" bIns="0" rtlCol="0" anchor="ctr"/>
          <a:lstStyle/>
          <a:p>
            <a:pPr marL="0" indent="0" algn="ctr">
              <a:lnSpc>
                <a:spcPct val="115000"/>
              </a:lnSpc>
              <a:buNone/>
            </a:pPr>
            <a:r>
              <a:rPr lang="en-US" sz="1400" b="1" i="1" dirty="0">
                <a:solidFill>
                  <a:srgbClr val="000000"/>
                </a:solidFill>
                <a:latin typeface="Arial" pitchFamily="34" charset="0"/>
                <a:ea typeface="Arial" pitchFamily="34" charset="-122"/>
                <a:cs typeface="Arial" pitchFamily="34" charset="-120"/>
              </a:rPr>
              <a:t>The evolution is a steady march toward increasingly general, reusable representations. Each stage removes an assumption the previous one relied on: hand tuning, task-specificity, and finally, single-dataset scope.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Why Traditional ML / DL struggles</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502920" y="1280160"/>
            <a:ext cx="5120640" cy="3200400"/>
          </a:xfrm>
          <a:prstGeom prst="roundRect">
            <a:avLst>
              <a:gd name="adj" fmla="val 2571"/>
            </a:avLst>
          </a:prstGeom>
          <a:solidFill>
            <a:srgbClr val="F8FAFC"/>
          </a:solidFill>
          <a:ln w="12700">
            <a:solidFill>
              <a:srgbClr val="E2E8F0"/>
            </a:solidFill>
            <a:prstDash val="solid"/>
          </a:ln>
        </p:spPr>
        <p:txBody>
          <a:bodyPr/>
          <a:lstStyle/>
          <a:p>
            <a:endParaRPr lang="en-IN"/>
          </a:p>
        </p:txBody>
      </p:sp>
      <p:sp>
        <p:nvSpPr>
          <p:cNvPr id="6" name="Text 3"/>
          <p:cNvSpPr/>
          <p:nvPr/>
        </p:nvSpPr>
        <p:spPr>
          <a:xfrm>
            <a:off x="731520" y="1444752"/>
            <a:ext cx="4663440" cy="365760"/>
          </a:xfrm>
          <a:prstGeom prst="rect">
            <a:avLst/>
          </a:prstGeom>
          <a:noFill/>
          <a:ln/>
        </p:spPr>
        <p:txBody>
          <a:bodyPr wrap="square" lIns="0" tIns="0" rIns="0" bIns="0" rtlCol="0" anchor="ctr"/>
          <a:lstStyle/>
          <a:p>
            <a:pPr marL="0" indent="0">
              <a:buNone/>
            </a:pPr>
            <a:r>
              <a:rPr lang="en-US" sz="1500" b="1" dirty="0">
                <a:solidFill>
                  <a:srgbClr val="000000"/>
                </a:solidFill>
                <a:latin typeface="Arial" pitchFamily="34" charset="0"/>
                <a:ea typeface="Arial" pitchFamily="34" charset="-122"/>
                <a:cs typeface="Arial" pitchFamily="34" charset="-120"/>
              </a:rPr>
              <a:t>Traditional ML / DL</a:t>
            </a:r>
            <a:endParaRPr lang="en-US" sz="1500" dirty="0"/>
          </a:p>
        </p:txBody>
      </p:sp>
      <p:sp>
        <p:nvSpPr>
          <p:cNvPr id="7" name="Text 4"/>
          <p:cNvSpPr/>
          <p:nvPr/>
        </p:nvSpPr>
        <p:spPr>
          <a:xfrm>
            <a:off x="777240" y="1874520"/>
            <a:ext cx="4572000" cy="246888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Transactions treated independently</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Handcrafted, task-specific features</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A new model trained per task</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Weak long-range temporal modelling</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Poor transferability across datasets</a:t>
            </a:r>
            <a:endParaRPr lang="en-US" sz="1300" dirty="0"/>
          </a:p>
        </p:txBody>
      </p:sp>
      <p:sp>
        <p:nvSpPr>
          <p:cNvPr id="8" name="Shape 5"/>
          <p:cNvSpPr/>
          <p:nvPr/>
        </p:nvSpPr>
        <p:spPr>
          <a:xfrm>
            <a:off x="6492240" y="1280160"/>
            <a:ext cx="5120640" cy="3200400"/>
          </a:xfrm>
          <a:prstGeom prst="roundRect">
            <a:avLst>
              <a:gd name="adj" fmla="val 2571"/>
            </a:avLst>
          </a:prstGeom>
          <a:solidFill>
            <a:srgbClr val="FFF7ED"/>
          </a:solidFill>
          <a:ln w="12700">
            <a:solidFill>
              <a:srgbClr val="FF9900"/>
            </a:solidFill>
            <a:prstDash val="solid"/>
          </a:ln>
        </p:spPr>
        <p:txBody>
          <a:bodyPr/>
          <a:lstStyle/>
          <a:p>
            <a:endParaRPr lang="en-IN"/>
          </a:p>
        </p:txBody>
      </p:sp>
      <p:sp>
        <p:nvSpPr>
          <p:cNvPr id="9" name="Text 6"/>
          <p:cNvSpPr/>
          <p:nvPr/>
        </p:nvSpPr>
        <p:spPr>
          <a:xfrm>
            <a:off x="6720840" y="1444752"/>
            <a:ext cx="4663440" cy="365760"/>
          </a:xfrm>
          <a:prstGeom prst="rect">
            <a:avLst/>
          </a:prstGeom>
          <a:noFill/>
          <a:ln/>
        </p:spPr>
        <p:txBody>
          <a:bodyPr wrap="square" lIns="0" tIns="0" rIns="0" bIns="0" rtlCol="0" anchor="ctr"/>
          <a:lstStyle/>
          <a:p>
            <a:pPr marL="0" indent="0">
              <a:buNone/>
            </a:pPr>
            <a:r>
              <a:rPr lang="en-US" sz="1500" b="1" dirty="0">
                <a:solidFill>
                  <a:srgbClr val="EA580C"/>
                </a:solidFill>
                <a:latin typeface="Arial" pitchFamily="34" charset="0"/>
                <a:ea typeface="Arial" pitchFamily="34" charset="-122"/>
                <a:cs typeface="Arial" pitchFamily="34" charset="-120"/>
              </a:rPr>
              <a:t>What Foundation Models Aim For</a:t>
            </a:r>
            <a:endParaRPr lang="en-US" sz="1500" dirty="0"/>
          </a:p>
        </p:txBody>
      </p:sp>
      <p:sp>
        <p:nvSpPr>
          <p:cNvPr id="10" name="Text 7"/>
          <p:cNvSpPr/>
          <p:nvPr/>
        </p:nvSpPr>
        <p:spPr>
          <a:xfrm>
            <a:off x="6766560" y="1874520"/>
            <a:ext cx="4572000" cy="2468880"/>
          </a:xfrm>
          <a:prstGeom prst="rect">
            <a:avLst/>
          </a:prstGeom>
          <a:noFill/>
          <a:ln/>
        </p:spPr>
        <p:txBody>
          <a:bodyPr wrap="square" lIns="0" tIns="0" rIns="0" bIns="0" rtlCol="0" anchor="t"/>
          <a:lstStyle/>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Self-supervised pretraining on raw sequences</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General-purpose, reusable embeddings</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One model, many downstream tasks</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Strong long-range sequence modelling</a:t>
            </a:r>
            <a:endParaRPr lang="en-US" sz="1300" dirty="0"/>
          </a:p>
          <a:p>
            <a:pPr marL="177800" indent="-1778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Transfer across datasets and tasks</a:t>
            </a:r>
            <a:endParaRPr lang="en-US" sz="1300" dirty="0"/>
          </a:p>
        </p:txBody>
      </p:sp>
      <p:sp>
        <p:nvSpPr>
          <p:cNvPr id="11" name="Text 8"/>
          <p:cNvSpPr/>
          <p:nvPr/>
        </p:nvSpPr>
        <p:spPr>
          <a:xfrm>
            <a:off x="5623560" y="2606040"/>
            <a:ext cx="868680" cy="548640"/>
          </a:xfrm>
          <a:prstGeom prst="rect">
            <a:avLst/>
          </a:prstGeom>
          <a:noFill/>
          <a:ln/>
        </p:spPr>
        <p:txBody>
          <a:bodyPr wrap="square" lIns="0" tIns="0" rIns="0" bIns="0" rtlCol="0" anchor="ctr"/>
          <a:lstStyle/>
          <a:p>
            <a:pPr marL="0" indent="0" algn="ctr">
              <a:buNone/>
            </a:pPr>
            <a:r>
              <a:rPr lang="en-US" sz="1800" b="1" dirty="0">
                <a:solidFill>
                  <a:srgbClr val="EA580C"/>
                </a:solidFill>
                <a:latin typeface="Arial" pitchFamily="34" charset="0"/>
                <a:ea typeface="Arial" pitchFamily="34" charset="-122"/>
                <a:cs typeface="Arial" pitchFamily="34" charset="-120"/>
              </a:rPr>
              <a:t>vs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Literature — Paper 1: TabNet</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502920" y="1371600"/>
            <a:ext cx="11183112" cy="914400"/>
          </a:xfrm>
          <a:prstGeom prst="roundRect">
            <a:avLst>
              <a:gd name="adj" fmla="val 9000"/>
            </a:avLst>
          </a:prstGeom>
          <a:solidFill>
            <a:srgbClr val="F8FAFC"/>
          </a:solidFill>
          <a:ln w="12700">
            <a:solidFill>
              <a:srgbClr val="E2E8F0"/>
            </a:solidFill>
            <a:prstDash val="solid"/>
          </a:ln>
        </p:spPr>
        <p:txBody>
          <a:bodyPr/>
          <a:lstStyle/>
          <a:p>
            <a:endParaRPr lang="en-IN"/>
          </a:p>
        </p:txBody>
      </p:sp>
      <p:sp>
        <p:nvSpPr>
          <p:cNvPr id="6" name="Text 3"/>
          <p:cNvSpPr/>
          <p:nvPr/>
        </p:nvSpPr>
        <p:spPr>
          <a:xfrm>
            <a:off x="777240" y="1371600"/>
            <a:ext cx="10607040" cy="914400"/>
          </a:xfrm>
          <a:prstGeom prst="rect">
            <a:avLst/>
          </a:prstGeom>
          <a:noFill/>
          <a:ln/>
        </p:spPr>
        <p:txBody>
          <a:bodyPr wrap="square" lIns="0" tIns="0" rIns="0" bIns="0" rtlCol="0" anchor="ctr"/>
          <a:lstStyle/>
          <a:p>
            <a:pPr marL="0" indent="0">
              <a:buNone/>
            </a:pPr>
            <a:r>
              <a:rPr lang="en-US" sz="1400" b="1" dirty="0">
                <a:solidFill>
                  <a:srgbClr val="000000"/>
                </a:solidFill>
                <a:latin typeface="Arial" pitchFamily="34" charset="0"/>
                <a:ea typeface="Arial" pitchFamily="34" charset="-122"/>
                <a:cs typeface="Arial" pitchFamily="34" charset="-120"/>
              </a:rPr>
              <a:t>Purpose:  </a:t>
            </a:r>
            <a:r>
              <a:rPr lang="en-US" sz="1400" dirty="0">
                <a:solidFill>
                  <a:srgbClr val="1A1A1A"/>
                </a:solidFill>
                <a:latin typeface="Arial" pitchFamily="34" charset="0"/>
                <a:ea typeface="Arial" pitchFamily="34" charset="-122"/>
                <a:cs typeface="Arial" pitchFamily="34" charset="-120"/>
              </a:rPr>
              <a:t>Bring deep learning to tabular data, before transformer architectures existed for this domain.</a:t>
            </a:r>
            <a:endParaRPr lang="en-US" sz="1400" dirty="0"/>
          </a:p>
        </p:txBody>
      </p:sp>
      <p:sp>
        <p:nvSpPr>
          <p:cNvPr id="7" name="Shape 4"/>
          <p:cNvSpPr/>
          <p:nvPr/>
        </p:nvSpPr>
        <p:spPr>
          <a:xfrm>
            <a:off x="502920" y="2560320"/>
            <a:ext cx="5349240" cy="2468880"/>
          </a:xfrm>
          <a:prstGeom prst="roundRect">
            <a:avLst>
              <a:gd name="adj" fmla="val 3333"/>
            </a:avLst>
          </a:prstGeom>
          <a:solidFill>
            <a:srgbClr val="F8FAFC"/>
          </a:solidFill>
          <a:ln w="12700">
            <a:solidFill>
              <a:srgbClr val="E2E8F0"/>
            </a:solidFill>
            <a:prstDash val="solid"/>
          </a:ln>
        </p:spPr>
        <p:txBody>
          <a:bodyPr/>
          <a:lstStyle/>
          <a:p>
            <a:endParaRPr lang="en-IN"/>
          </a:p>
        </p:txBody>
      </p:sp>
      <p:sp>
        <p:nvSpPr>
          <p:cNvPr id="8" name="Text 5"/>
          <p:cNvSpPr/>
          <p:nvPr/>
        </p:nvSpPr>
        <p:spPr>
          <a:xfrm>
            <a:off x="731520" y="2743200"/>
            <a:ext cx="4892040" cy="365760"/>
          </a:xfrm>
          <a:prstGeom prst="rect">
            <a:avLst/>
          </a:prstGeom>
          <a:noFill/>
          <a:ln/>
        </p:spPr>
        <p:txBody>
          <a:bodyPr wrap="square" lIns="0" tIns="0" rIns="0" bIns="0" rtlCol="0" anchor="ctr"/>
          <a:lstStyle/>
          <a:p>
            <a:pPr marL="0" indent="0">
              <a:buNone/>
            </a:pPr>
            <a:r>
              <a:rPr lang="en-US" sz="1400" b="1" dirty="0">
                <a:solidFill>
                  <a:srgbClr val="000000"/>
                </a:solidFill>
                <a:latin typeface="Arial" pitchFamily="34" charset="0"/>
                <a:ea typeface="Arial" pitchFamily="34" charset="-122"/>
                <a:cs typeface="Arial" pitchFamily="34" charset="-120"/>
              </a:rPr>
              <a:t>Key Contribution</a:t>
            </a:r>
            <a:endParaRPr lang="en-US" sz="1400" dirty="0"/>
          </a:p>
        </p:txBody>
      </p:sp>
      <p:sp>
        <p:nvSpPr>
          <p:cNvPr id="9" name="Text 6"/>
          <p:cNvSpPr/>
          <p:nvPr/>
        </p:nvSpPr>
        <p:spPr>
          <a:xfrm>
            <a:off x="777240" y="3246120"/>
            <a:ext cx="4800600" cy="16459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Sequential attention selects relevant features per instance</a:t>
            </a:r>
            <a:endParaRPr lang="en-US" sz="1300" dirty="0"/>
          </a:p>
          <a:p>
            <a:pPr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Learns instance-wise feature importance end-to-end</a:t>
            </a:r>
            <a:endParaRPr lang="en-US" sz="1300" dirty="0"/>
          </a:p>
        </p:txBody>
      </p:sp>
      <p:sp>
        <p:nvSpPr>
          <p:cNvPr id="10" name="Shape 7"/>
          <p:cNvSpPr/>
          <p:nvPr/>
        </p:nvSpPr>
        <p:spPr>
          <a:xfrm>
            <a:off x="6336792" y="2560320"/>
            <a:ext cx="5349240" cy="2468880"/>
          </a:xfrm>
          <a:prstGeom prst="roundRect">
            <a:avLst>
              <a:gd name="adj" fmla="val 3333"/>
            </a:avLst>
          </a:prstGeom>
          <a:solidFill>
            <a:srgbClr val="FFF7ED"/>
          </a:solidFill>
          <a:ln w="12700">
            <a:solidFill>
              <a:srgbClr val="FF9900"/>
            </a:solidFill>
            <a:prstDash val="solid"/>
          </a:ln>
        </p:spPr>
        <p:txBody>
          <a:bodyPr/>
          <a:lstStyle/>
          <a:p>
            <a:endParaRPr lang="en-IN"/>
          </a:p>
        </p:txBody>
      </p:sp>
      <p:sp>
        <p:nvSpPr>
          <p:cNvPr id="11" name="Text 8"/>
          <p:cNvSpPr/>
          <p:nvPr/>
        </p:nvSpPr>
        <p:spPr>
          <a:xfrm>
            <a:off x="6565392" y="2743200"/>
            <a:ext cx="4892040" cy="365760"/>
          </a:xfrm>
          <a:prstGeom prst="rect">
            <a:avLst/>
          </a:prstGeom>
          <a:noFill/>
          <a:ln/>
        </p:spPr>
        <p:txBody>
          <a:bodyPr wrap="square" lIns="0" tIns="0" rIns="0" bIns="0" rtlCol="0" anchor="ctr"/>
          <a:lstStyle/>
          <a:p>
            <a:pPr marL="0" indent="0">
              <a:buNone/>
            </a:pPr>
            <a:r>
              <a:rPr lang="en-US" sz="1400" b="1" dirty="0">
                <a:solidFill>
                  <a:srgbClr val="EA580C"/>
                </a:solidFill>
                <a:latin typeface="Arial" pitchFamily="34" charset="0"/>
                <a:ea typeface="Arial" pitchFamily="34" charset="-122"/>
                <a:cs typeface="Arial" pitchFamily="34" charset="-120"/>
              </a:rPr>
              <a:t>Limitation</a:t>
            </a:r>
            <a:endParaRPr lang="en-US" sz="1400" dirty="0"/>
          </a:p>
        </p:txBody>
      </p:sp>
      <p:sp>
        <p:nvSpPr>
          <p:cNvPr id="12" name="Text 9"/>
          <p:cNvSpPr/>
          <p:nvPr/>
        </p:nvSpPr>
        <p:spPr>
          <a:xfrm>
            <a:off x="6611112" y="3246120"/>
            <a:ext cx="4800600" cy="16459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Learns task-specific representations, trained end-to-end per task</a:t>
            </a:r>
            <a:endParaRPr lang="en-US" sz="1300" dirty="0"/>
          </a:p>
          <a:p>
            <a:pPr marL="177800" indent="-177800">
              <a:spcAft>
                <a:spcPts val="1000"/>
              </a:spcAft>
              <a:buSzPct val="100000"/>
              <a:buChar char="●"/>
            </a:pPr>
            <a:r>
              <a:rPr lang="en-US" sz="1300" dirty="0">
                <a:solidFill>
                  <a:srgbClr val="1A1A1A"/>
                </a:solidFill>
                <a:latin typeface="Arial" pitchFamily="34" charset="0"/>
                <a:ea typeface="Arial" pitchFamily="34" charset="-122"/>
                <a:cs typeface="Arial" pitchFamily="34" charset="-120"/>
              </a:rPr>
              <a:t>No reusable pretraining objective — not a foundation model</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Literature — Paper 2: IBM TabFormer</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640080" y="1371600"/>
            <a:ext cx="2377440" cy="1005840"/>
          </a:xfrm>
          <a:prstGeom prst="roundRect">
            <a:avLst>
              <a:gd name="adj" fmla="val 7273"/>
            </a:avLst>
          </a:prstGeom>
          <a:solidFill>
            <a:srgbClr val="F8FAFC"/>
          </a:solidFill>
          <a:ln w="15875">
            <a:solidFill>
              <a:srgbClr val="E2E8F0"/>
            </a:solidFill>
            <a:prstDash val="solid"/>
          </a:ln>
        </p:spPr>
        <p:txBody>
          <a:bodyPr/>
          <a:lstStyle/>
          <a:p>
            <a:endParaRPr lang="en-IN"/>
          </a:p>
        </p:txBody>
      </p:sp>
      <p:sp>
        <p:nvSpPr>
          <p:cNvPr id="6" name="Text 3"/>
          <p:cNvSpPr/>
          <p:nvPr/>
        </p:nvSpPr>
        <p:spPr>
          <a:xfrm>
            <a:off x="713232" y="1371600"/>
            <a:ext cx="2231136" cy="1005840"/>
          </a:xfrm>
          <a:prstGeom prst="rect">
            <a:avLst/>
          </a:prstGeom>
          <a:noFill/>
          <a:ln/>
        </p:spPr>
        <p:txBody>
          <a:bodyPr wrap="square" lIns="0" tIns="0" rIns="0" bIns="0" rtlCol="0" anchor="ctr"/>
          <a:lstStyle/>
          <a:p>
            <a:pPr marL="0" indent="0" algn="ctr">
              <a:buNone/>
            </a:pPr>
            <a:r>
              <a:rPr lang="en-US" sz="1200" b="1" dirty="0">
                <a:solidFill>
                  <a:srgbClr val="000000"/>
                </a:solidFill>
                <a:latin typeface="Arial" pitchFamily="34" charset="0"/>
                <a:ea typeface="Arial" pitchFamily="34" charset="-122"/>
                <a:cs typeface="Arial" pitchFamily="34" charset="-120"/>
              </a:rPr>
              <a:t>Field-Level</a:t>
            </a:r>
            <a:endParaRPr lang="en-US" sz="1200" dirty="0"/>
          </a:p>
          <a:p>
            <a:pPr marL="0" indent="0" algn="ctr">
              <a:buNone/>
            </a:pPr>
            <a:r>
              <a:rPr lang="en-US" sz="1200" b="1" dirty="0">
                <a:solidFill>
                  <a:srgbClr val="000000"/>
                </a:solidFill>
                <a:latin typeface="Arial" pitchFamily="34" charset="0"/>
                <a:ea typeface="Arial" pitchFamily="34" charset="-122"/>
                <a:cs typeface="Arial" pitchFamily="34" charset="-120"/>
              </a:rPr>
              <a:t>Tokens</a:t>
            </a:r>
            <a:endParaRPr lang="en-US" sz="1200" dirty="0"/>
          </a:p>
        </p:txBody>
      </p:sp>
      <p:sp>
        <p:nvSpPr>
          <p:cNvPr id="7" name="Text 4"/>
          <p:cNvSpPr/>
          <p:nvPr/>
        </p:nvSpPr>
        <p:spPr>
          <a:xfrm>
            <a:off x="3017520" y="1691640"/>
            <a:ext cx="320040" cy="365760"/>
          </a:xfrm>
          <a:prstGeom prst="rect">
            <a:avLst/>
          </a:prstGeom>
          <a:noFill/>
          <a:ln/>
        </p:spPr>
        <p:txBody>
          <a:bodyPr wrap="square" lIns="0" tIns="0" rIns="0" bIns="0" rtlCol="0" anchor="ctr"/>
          <a:lstStyle/>
          <a:p>
            <a:pPr marL="0" indent="0" algn="ctr">
              <a:buNone/>
            </a:pPr>
            <a:r>
              <a:rPr lang="en-US" sz="1800" b="1" dirty="0">
                <a:solidFill>
                  <a:srgbClr val="EA580C"/>
                </a:solidFill>
                <a:latin typeface="Arial" pitchFamily="34" charset="0"/>
                <a:ea typeface="Arial" pitchFamily="34" charset="-122"/>
                <a:cs typeface="Arial" pitchFamily="34" charset="-120"/>
              </a:rPr>
              <a:t>→</a:t>
            </a:r>
            <a:endParaRPr lang="en-US" sz="1800" dirty="0"/>
          </a:p>
        </p:txBody>
      </p:sp>
      <p:sp>
        <p:nvSpPr>
          <p:cNvPr id="8" name="Shape 5"/>
          <p:cNvSpPr/>
          <p:nvPr/>
        </p:nvSpPr>
        <p:spPr>
          <a:xfrm>
            <a:off x="3337560" y="1371600"/>
            <a:ext cx="2377440" cy="1005840"/>
          </a:xfrm>
          <a:prstGeom prst="roundRect">
            <a:avLst>
              <a:gd name="adj" fmla="val 7273"/>
            </a:avLst>
          </a:prstGeom>
          <a:solidFill>
            <a:srgbClr val="F8FAFC"/>
          </a:solidFill>
          <a:ln w="15875">
            <a:solidFill>
              <a:srgbClr val="E2E8F0"/>
            </a:solidFill>
            <a:prstDash val="solid"/>
          </a:ln>
        </p:spPr>
        <p:txBody>
          <a:bodyPr/>
          <a:lstStyle/>
          <a:p>
            <a:endParaRPr lang="en-IN"/>
          </a:p>
        </p:txBody>
      </p:sp>
      <p:sp>
        <p:nvSpPr>
          <p:cNvPr id="9" name="Text 6"/>
          <p:cNvSpPr/>
          <p:nvPr/>
        </p:nvSpPr>
        <p:spPr>
          <a:xfrm>
            <a:off x="3410712" y="1371600"/>
            <a:ext cx="2231136" cy="1005840"/>
          </a:xfrm>
          <a:prstGeom prst="rect">
            <a:avLst/>
          </a:prstGeom>
          <a:noFill/>
          <a:ln/>
        </p:spPr>
        <p:txBody>
          <a:bodyPr wrap="square" lIns="0" tIns="0" rIns="0" bIns="0" rtlCol="0" anchor="ctr"/>
          <a:lstStyle/>
          <a:p>
            <a:pPr marL="0" indent="0" algn="ctr">
              <a:buNone/>
            </a:pPr>
            <a:r>
              <a:rPr lang="en-US" sz="1200" b="1" dirty="0">
                <a:solidFill>
                  <a:srgbClr val="000000"/>
                </a:solidFill>
                <a:latin typeface="Arial" pitchFamily="34" charset="0"/>
                <a:ea typeface="Arial" pitchFamily="34" charset="-122"/>
                <a:cs typeface="Arial" pitchFamily="34" charset="-120"/>
              </a:rPr>
              <a:t>Hierarchical</a:t>
            </a:r>
            <a:endParaRPr lang="en-US" sz="1200" dirty="0"/>
          </a:p>
          <a:p>
            <a:pPr marL="0" indent="0" algn="ctr">
              <a:buNone/>
            </a:pPr>
            <a:r>
              <a:rPr lang="en-US" sz="1200" b="1" dirty="0">
                <a:solidFill>
                  <a:srgbClr val="000000"/>
                </a:solidFill>
                <a:latin typeface="Arial" pitchFamily="34" charset="0"/>
                <a:ea typeface="Arial" pitchFamily="34" charset="-122"/>
                <a:cs typeface="Arial" pitchFamily="34" charset="-120"/>
              </a:rPr>
              <a:t>TabBERT</a:t>
            </a:r>
            <a:endParaRPr lang="en-US" sz="1200" dirty="0"/>
          </a:p>
        </p:txBody>
      </p:sp>
      <p:sp>
        <p:nvSpPr>
          <p:cNvPr id="10" name="Text 7"/>
          <p:cNvSpPr/>
          <p:nvPr/>
        </p:nvSpPr>
        <p:spPr>
          <a:xfrm>
            <a:off x="5715000" y="1691640"/>
            <a:ext cx="320040" cy="365760"/>
          </a:xfrm>
          <a:prstGeom prst="rect">
            <a:avLst/>
          </a:prstGeom>
          <a:noFill/>
          <a:ln/>
        </p:spPr>
        <p:txBody>
          <a:bodyPr wrap="square" lIns="0" tIns="0" rIns="0" bIns="0" rtlCol="0" anchor="ctr"/>
          <a:lstStyle/>
          <a:p>
            <a:pPr marL="0" indent="0" algn="ctr">
              <a:buNone/>
            </a:pPr>
            <a:r>
              <a:rPr lang="en-US" sz="1800" b="1" dirty="0">
                <a:solidFill>
                  <a:srgbClr val="EA580C"/>
                </a:solidFill>
                <a:latin typeface="Arial" pitchFamily="34" charset="0"/>
                <a:ea typeface="Arial" pitchFamily="34" charset="-122"/>
                <a:cs typeface="Arial" pitchFamily="34" charset="-120"/>
              </a:rPr>
              <a:t>→</a:t>
            </a:r>
            <a:endParaRPr lang="en-US" sz="1800" dirty="0"/>
          </a:p>
        </p:txBody>
      </p:sp>
      <p:sp>
        <p:nvSpPr>
          <p:cNvPr id="11" name="Shape 8"/>
          <p:cNvSpPr/>
          <p:nvPr/>
        </p:nvSpPr>
        <p:spPr>
          <a:xfrm>
            <a:off x="6035040" y="1371600"/>
            <a:ext cx="2377440" cy="1005840"/>
          </a:xfrm>
          <a:prstGeom prst="roundRect">
            <a:avLst>
              <a:gd name="adj" fmla="val 7273"/>
            </a:avLst>
          </a:prstGeom>
          <a:solidFill>
            <a:srgbClr val="F8FAFC"/>
          </a:solidFill>
          <a:ln w="15875">
            <a:solidFill>
              <a:srgbClr val="E2E8F0"/>
            </a:solidFill>
            <a:prstDash val="solid"/>
          </a:ln>
        </p:spPr>
        <p:txBody>
          <a:bodyPr/>
          <a:lstStyle/>
          <a:p>
            <a:endParaRPr lang="en-IN"/>
          </a:p>
        </p:txBody>
      </p:sp>
      <p:sp>
        <p:nvSpPr>
          <p:cNvPr id="12" name="Text 9"/>
          <p:cNvSpPr/>
          <p:nvPr/>
        </p:nvSpPr>
        <p:spPr>
          <a:xfrm>
            <a:off x="6108192" y="1371600"/>
            <a:ext cx="2231136" cy="1005840"/>
          </a:xfrm>
          <a:prstGeom prst="rect">
            <a:avLst/>
          </a:prstGeom>
          <a:noFill/>
          <a:ln/>
        </p:spPr>
        <p:txBody>
          <a:bodyPr wrap="square" lIns="0" tIns="0" rIns="0" bIns="0" rtlCol="0" anchor="ctr"/>
          <a:lstStyle/>
          <a:p>
            <a:pPr marL="0" indent="0" algn="ctr">
              <a:buNone/>
            </a:pPr>
            <a:r>
              <a:rPr lang="en-US" sz="1200" b="1" dirty="0">
                <a:solidFill>
                  <a:srgbClr val="000000"/>
                </a:solidFill>
                <a:latin typeface="Arial" pitchFamily="34" charset="0"/>
                <a:ea typeface="Arial" pitchFamily="34" charset="-122"/>
                <a:cs typeface="Arial" pitchFamily="34" charset="-120"/>
              </a:rPr>
              <a:t>Row-Level</a:t>
            </a:r>
            <a:endParaRPr lang="en-US" sz="1200" dirty="0"/>
          </a:p>
          <a:p>
            <a:pPr marL="0" indent="0" algn="ctr">
              <a:buNone/>
            </a:pPr>
            <a:r>
              <a:rPr lang="en-US" sz="1200" b="1" dirty="0">
                <a:solidFill>
                  <a:srgbClr val="000000"/>
                </a:solidFill>
                <a:latin typeface="Arial" pitchFamily="34" charset="0"/>
                <a:ea typeface="Arial" pitchFamily="34" charset="-122"/>
                <a:cs typeface="Arial" pitchFamily="34" charset="-120"/>
              </a:rPr>
              <a:t>Embedding</a:t>
            </a:r>
            <a:endParaRPr lang="en-US" sz="1200" dirty="0"/>
          </a:p>
        </p:txBody>
      </p:sp>
      <p:sp>
        <p:nvSpPr>
          <p:cNvPr id="13" name="Text 10"/>
          <p:cNvSpPr/>
          <p:nvPr/>
        </p:nvSpPr>
        <p:spPr>
          <a:xfrm>
            <a:off x="8412480" y="1691640"/>
            <a:ext cx="320040" cy="365760"/>
          </a:xfrm>
          <a:prstGeom prst="rect">
            <a:avLst/>
          </a:prstGeom>
          <a:noFill/>
          <a:ln/>
        </p:spPr>
        <p:txBody>
          <a:bodyPr wrap="square" lIns="0" tIns="0" rIns="0" bIns="0" rtlCol="0" anchor="ctr"/>
          <a:lstStyle/>
          <a:p>
            <a:pPr marL="0" indent="0" algn="ctr">
              <a:buNone/>
            </a:pPr>
            <a:r>
              <a:rPr lang="en-US" sz="1800" b="1" dirty="0">
                <a:solidFill>
                  <a:srgbClr val="EA580C"/>
                </a:solidFill>
                <a:latin typeface="Arial" pitchFamily="34" charset="0"/>
                <a:ea typeface="Arial" pitchFamily="34" charset="-122"/>
                <a:cs typeface="Arial" pitchFamily="34" charset="-120"/>
              </a:rPr>
              <a:t>→</a:t>
            </a:r>
            <a:endParaRPr lang="en-US" sz="1800" dirty="0"/>
          </a:p>
        </p:txBody>
      </p:sp>
      <p:sp>
        <p:nvSpPr>
          <p:cNvPr id="14" name="Shape 11"/>
          <p:cNvSpPr/>
          <p:nvPr/>
        </p:nvSpPr>
        <p:spPr>
          <a:xfrm>
            <a:off x="8732520" y="1371600"/>
            <a:ext cx="2377440" cy="1005840"/>
          </a:xfrm>
          <a:prstGeom prst="roundRect">
            <a:avLst>
              <a:gd name="adj" fmla="val 7273"/>
            </a:avLst>
          </a:prstGeom>
          <a:solidFill>
            <a:srgbClr val="F8FAFC"/>
          </a:solidFill>
          <a:ln w="15875">
            <a:solidFill>
              <a:srgbClr val="E2E8F0"/>
            </a:solidFill>
            <a:prstDash val="solid"/>
          </a:ln>
        </p:spPr>
        <p:txBody>
          <a:bodyPr/>
          <a:lstStyle/>
          <a:p>
            <a:endParaRPr lang="en-IN"/>
          </a:p>
        </p:txBody>
      </p:sp>
      <p:sp>
        <p:nvSpPr>
          <p:cNvPr id="15" name="Text 12"/>
          <p:cNvSpPr/>
          <p:nvPr/>
        </p:nvSpPr>
        <p:spPr>
          <a:xfrm>
            <a:off x="8805672" y="1371600"/>
            <a:ext cx="2231136" cy="1005840"/>
          </a:xfrm>
          <a:prstGeom prst="rect">
            <a:avLst/>
          </a:prstGeom>
          <a:noFill/>
          <a:ln/>
        </p:spPr>
        <p:txBody>
          <a:bodyPr wrap="square" lIns="0" tIns="0" rIns="0" bIns="0" rtlCol="0" anchor="ctr"/>
          <a:lstStyle/>
          <a:p>
            <a:pPr marL="0" indent="0" algn="ctr">
              <a:buNone/>
            </a:pPr>
            <a:r>
              <a:rPr lang="en-US" sz="1200" b="1" dirty="0">
                <a:solidFill>
                  <a:srgbClr val="000000"/>
                </a:solidFill>
                <a:latin typeface="Arial" pitchFamily="34" charset="0"/>
                <a:ea typeface="Arial" pitchFamily="34" charset="-122"/>
                <a:cs typeface="Arial" pitchFamily="34" charset="-120"/>
              </a:rPr>
              <a:t>Model</a:t>
            </a:r>
            <a:endParaRPr lang="en-US" sz="1200" dirty="0"/>
          </a:p>
        </p:txBody>
      </p:sp>
      <p:sp>
        <p:nvSpPr>
          <p:cNvPr id="16" name="Shape 13"/>
          <p:cNvSpPr/>
          <p:nvPr/>
        </p:nvSpPr>
        <p:spPr>
          <a:xfrm>
            <a:off x="502920" y="2697480"/>
            <a:ext cx="11183112" cy="1371600"/>
          </a:xfrm>
          <a:prstGeom prst="roundRect">
            <a:avLst>
              <a:gd name="adj" fmla="val 6000"/>
            </a:avLst>
          </a:prstGeom>
          <a:solidFill>
            <a:srgbClr val="F8FAFC"/>
          </a:solidFill>
          <a:ln w="12700">
            <a:solidFill>
              <a:srgbClr val="E2E8F0"/>
            </a:solidFill>
            <a:prstDash val="solid"/>
          </a:ln>
        </p:spPr>
        <p:txBody>
          <a:bodyPr/>
          <a:lstStyle/>
          <a:p>
            <a:endParaRPr lang="en-IN"/>
          </a:p>
        </p:txBody>
      </p:sp>
      <p:sp>
        <p:nvSpPr>
          <p:cNvPr id="17" name="Text 14"/>
          <p:cNvSpPr/>
          <p:nvPr/>
        </p:nvSpPr>
        <p:spPr>
          <a:xfrm>
            <a:off x="777240" y="2834640"/>
            <a:ext cx="10607040" cy="1097280"/>
          </a:xfrm>
          <a:prstGeom prst="rect">
            <a:avLst/>
          </a:prstGeom>
          <a:noFill/>
          <a:ln/>
        </p:spPr>
        <p:txBody>
          <a:bodyPr wrap="square" lIns="0" tIns="0" rIns="0" bIns="0" rtlCol="0" anchor="ctr"/>
          <a:lstStyle/>
          <a:p>
            <a:pPr marL="0" indent="0">
              <a:lnSpc>
                <a:spcPct val="120000"/>
              </a:lnSpc>
              <a:buNone/>
            </a:pPr>
            <a:r>
              <a:rPr lang="en-US" sz="1400" b="1" dirty="0">
                <a:solidFill>
                  <a:srgbClr val="000000"/>
                </a:solidFill>
                <a:latin typeface="Arial" pitchFamily="34" charset="0"/>
                <a:ea typeface="Arial" pitchFamily="34" charset="-122"/>
                <a:cs typeface="Arial" pitchFamily="34" charset="-120"/>
              </a:rPr>
              <a:t>Concepts introduced:  </a:t>
            </a:r>
            <a:r>
              <a:rPr lang="en-US" sz="1400" dirty="0">
                <a:solidFill>
                  <a:srgbClr val="1A1A1A"/>
                </a:solidFill>
                <a:latin typeface="Arial" pitchFamily="34" charset="0"/>
                <a:ea typeface="Arial" pitchFamily="34" charset="-122"/>
                <a:cs typeface="Arial" pitchFamily="34" charset="-120"/>
              </a:rPr>
              <a:t>TabFormer, Hierarchical TabBERT, TabGPT — hierarchical tokenization (field → row) and sequential representation learning via masked language modelling on transaction tables.</a:t>
            </a:r>
            <a:endParaRPr lang="en-US" sz="1400" dirty="0"/>
          </a:p>
        </p:txBody>
      </p:sp>
      <p:sp>
        <p:nvSpPr>
          <p:cNvPr id="18" name="Shape 15"/>
          <p:cNvSpPr/>
          <p:nvPr/>
        </p:nvSpPr>
        <p:spPr>
          <a:xfrm>
            <a:off x="502920" y="4251960"/>
            <a:ext cx="11183112" cy="1417320"/>
          </a:xfrm>
          <a:prstGeom prst="roundRect">
            <a:avLst>
              <a:gd name="adj" fmla="val 5806"/>
            </a:avLst>
          </a:prstGeom>
          <a:solidFill>
            <a:srgbClr val="FFF7ED"/>
          </a:solidFill>
          <a:ln w="15875">
            <a:solidFill>
              <a:srgbClr val="FF9900"/>
            </a:solidFill>
            <a:prstDash val="solid"/>
          </a:ln>
        </p:spPr>
        <p:txBody>
          <a:bodyPr/>
          <a:lstStyle/>
          <a:p>
            <a:endParaRPr lang="en-IN"/>
          </a:p>
        </p:txBody>
      </p:sp>
      <p:sp>
        <p:nvSpPr>
          <p:cNvPr id="19" name="Text 16"/>
          <p:cNvSpPr/>
          <p:nvPr/>
        </p:nvSpPr>
        <p:spPr>
          <a:xfrm>
            <a:off x="822960" y="4389120"/>
            <a:ext cx="10561320" cy="1143000"/>
          </a:xfrm>
          <a:prstGeom prst="rect">
            <a:avLst/>
          </a:prstGeom>
          <a:noFill/>
          <a:ln/>
        </p:spPr>
        <p:txBody>
          <a:bodyPr wrap="square" lIns="0" tIns="0" rIns="0" bIns="0" rtlCol="0" anchor="ctr"/>
          <a:lstStyle/>
          <a:p>
            <a:pPr>
              <a:lnSpc>
                <a:spcPct val="120000"/>
              </a:lnSpc>
            </a:pPr>
            <a:r>
              <a:rPr lang="en-US" sz="1350" b="1" i="1" dirty="0">
                <a:solidFill>
                  <a:srgbClr val="EA580C"/>
                </a:solidFill>
                <a:latin typeface="Arial" pitchFamily="34" charset="0"/>
                <a:ea typeface="Arial" pitchFamily="34" charset="-122"/>
                <a:cs typeface="Arial" pitchFamily="34" charset="-120"/>
              </a:rPr>
              <a:t>Limitation:  </a:t>
            </a:r>
            <a:r>
              <a:rPr lang="en-IN" sz="1350" i="1" dirty="0">
                <a:latin typeface="Arial" panose="020B0604020202020204" pitchFamily="34" charset="0"/>
                <a:cs typeface="Arial" panose="020B0604020202020204" pitchFamily="34" charset="0"/>
              </a:rPr>
              <a:t>While </a:t>
            </a:r>
            <a:r>
              <a:rPr lang="en-IN" sz="1350" i="1" dirty="0" err="1">
                <a:latin typeface="Arial" panose="020B0604020202020204" pitchFamily="34" charset="0"/>
                <a:cs typeface="Arial" panose="020B0604020202020204" pitchFamily="34" charset="0"/>
              </a:rPr>
              <a:t>TabFormer</a:t>
            </a:r>
            <a:r>
              <a:rPr lang="en-IN" sz="1350" i="1" dirty="0">
                <a:latin typeface="Arial" panose="020B0604020202020204" pitchFamily="34" charset="0"/>
                <a:cs typeface="Arial" panose="020B0604020202020204" pitchFamily="34" charset="0"/>
              </a:rPr>
              <a:t> introduced self-supervised pretraining for transaction sequences, it was not explicitly designed or evaluated as a general-purpose transaction foundation model supporting broad transfer across multiple downstream tasks.</a:t>
            </a:r>
            <a:endParaRPr lang="en-US" sz="1350" i="1"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Literature — Paper 3: NVIDIA TFM</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22" name="Text 19"/>
          <p:cNvSpPr/>
          <p:nvPr/>
        </p:nvSpPr>
        <p:spPr>
          <a:xfrm>
            <a:off x="792480" y="5217724"/>
            <a:ext cx="10607040" cy="1554480"/>
          </a:xfrm>
          <a:prstGeom prst="rect">
            <a:avLst/>
          </a:prstGeom>
          <a:noFill/>
          <a:ln/>
        </p:spPr>
        <p:txBody>
          <a:bodyPr wrap="square" lIns="0" tIns="0" rIns="0" bIns="0" rtlCol="0" anchor="t"/>
          <a:lstStyle/>
          <a:p>
            <a:pPr marL="177800" indent="-177800">
              <a:spcAft>
                <a:spcPts val="1000"/>
              </a:spcAft>
              <a:buSzPct val="100000"/>
              <a:buChar char="●"/>
            </a:pPr>
            <a:r>
              <a:rPr lang="en-US" sz="1350" b="1" dirty="0">
                <a:solidFill>
                  <a:srgbClr val="1A1A1A"/>
                </a:solidFill>
                <a:latin typeface="Arial" pitchFamily="34" charset="0"/>
                <a:ea typeface="Arial" pitchFamily="34" charset="-122"/>
                <a:cs typeface="Arial" pitchFamily="34" charset="-120"/>
              </a:rPr>
              <a:t>Self-supervised: predicts the next transaction token — no task labels used during pretraining</a:t>
            </a:r>
            <a:endParaRPr lang="en-US" sz="1350" dirty="0"/>
          </a:p>
          <a:p>
            <a:pPr marL="177800" indent="-177800">
              <a:spcAft>
                <a:spcPts val="1000"/>
              </a:spcAft>
              <a:buSzPct val="100000"/>
              <a:buChar char="●"/>
            </a:pPr>
            <a:r>
              <a:rPr lang="en-US" sz="1350" dirty="0">
                <a:solidFill>
                  <a:srgbClr val="1A1A1A"/>
                </a:solidFill>
                <a:latin typeface="Arial" pitchFamily="34" charset="0"/>
                <a:ea typeface="Arial" pitchFamily="34" charset="-122"/>
                <a:cs typeface="Arial" pitchFamily="34" charset="-120"/>
              </a:rPr>
              <a:t>The embedding produced is task-agnostic by design, meant to be reused across fraud detection, credit risk, segmentation, and more</a:t>
            </a:r>
            <a:endParaRPr lang="en-US" sz="1350" dirty="0"/>
          </a:p>
        </p:txBody>
      </p:sp>
      <p:pic>
        <p:nvPicPr>
          <p:cNvPr id="25" name="Picture 24" descr="Architecture Diagram - click to view full size">
            <a:extLst>
              <a:ext uri="{FF2B5EF4-FFF2-40B4-BE49-F238E27FC236}">
                <a16:creationId xmlns:a16="http://schemas.microsoft.com/office/drawing/2014/main" id="{40461B81-B37E-C0A3-26B0-081801BF9366}"/>
              </a:ext>
            </a:extLst>
          </p:cNvPr>
          <p:cNvPicPr>
            <a:picLocks noChangeAspect="1"/>
          </p:cNvPicPr>
          <p:nvPr/>
        </p:nvPicPr>
        <p:blipFill>
          <a:blip r:embed="rId4"/>
          <a:stretch>
            <a:fillRect/>
          </a:stretch>
        </p:blipFill>
        <p:spPr>
          <a:xfrm>
            <a:off x="1919111" y="1253073"/>
            <a:ext cx="7699022" cy="362372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Implementation Reference: NVIDIA Architecture</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pic>
        <p:nvPicPr>
          <p:cNvPr id="5" name="Image 1" descr="/mnt/user-data/uploads/1784374120487_ChatGPT_Image_Jul_18__2026__02_01_43_PM.png"/>
          <p:cNvPicPr>
            <a:picLocks noChangeAspect="1"/>
          </p:cNvPicPr>
          <p:nvPr/>
        </p:nvPicPr>
        <p:blipFill>
          <a:blip r:embed="rId4"/>
          <a:stretch>
            <a:fillRect/>
          </a:stretch>
        </p:blipFill>
        <p:spPr>
          <a:xfrm>
            <a:off x="1360170" y="1188719"/>
            <a:ext cx="9224010" cy="53766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Implementation &amp; Embedding Evaluation — Original Data</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Text 2"/>
          <p:cNvSpPr/>
          <p:nvPr/>
        </p:nvSpPr>
        <p:spPr>
          <a:xfrm>
            <a:off x="502920" y="1280160"/>
            <a:ext cx="5420360" cy="4846320"/>
          </a:xfrm>
          <a:prstGeom prst="rect">
            <a:avLst/>
          </a:prstGeom>
          <a:noFill/>
          <a:ln/>
        </p:spPr>
        <p:txBody>
          <a:bodyPr wrap="square" lIns="0" tIns="0" rIns="0" bIns="0" rtlCol="0" anchor="t"/>
          <a:lstStyle/>
          <a:p>
            <a:pPr marL="177800" indent="-177800">
              <a:spcAft>
                <a:spcPts val="800"/>
              </a:spcAft>
              <a:buSzPct val="100000"/>
              <a:buChar char="●"/>
            </a:pPr>
            <a:r>
              <a:rPr lang="en-US" sz="1250" b="1" dirty="0">
                <a:solidFill>
                  <a:srgbClr val="1A1A1A"/>
                </a:solidFill>
                <a:latin typeface="Arial" pitchFamily="34" charset="0"/>
                <a:ea typeface="Arial" pitchFamily="34" charset="-122"/>
                <a:cs typeface="Arial" pitchFamily="34" charset="-120"/>
              </a:rPr>
              <a:t>Implemented the complete 5-notebook pipeline end-to-end</a:t>
            </a:r>
          </a:p>
          <a:p>
            <a:pPr>
              <a:spcAft>
                <a:spcPts val="800"/>
              </a:spcAft>
              <a:buSzPct val="100000"/>
            </a:pPr>
            <a:endParaRPr lang="en-US" sz="1250" dirty="0"/>
          </a:p>
          <a:p>
            <a:pPr marL="177800" indent="-177800">
              <a:spcAft>
                <a:spcPts val="800"/>
              </a:spcAft>
              <a:buSzPct val="100000"/>
              <a:buChar char="●"/>
            </a:pPr>
            <a:r>
              <a:rPr lang="en-US" sz="1250" dirty="0">
                <a:solidFill>
                  <a:srgbClr val="1A1A1A"/>
                </a:solidFill>
                <a:latin typeface="Arial" pitchFamily="34" charset="0"/>
                <a:ea typeface="Arial" pitchFamily="34" charset="-122"/>
                <a:cs typeface="Arial" pitchFamily="34" charset="-120"/>
              </a:rPr>
              <a:t>Foundation model trained from scratch, purely self-supervised (no labels)</a:t>
            </a:r>
          </a:p>
          <a:p>
            <a:pPr>
              <a:spcAft>
                <a:spcPts val="800"/>
              </a:spcAft>
              <a:buSzPct val="100000"/>
            </a:pPr>
            <a:endParaRPr lang="en-US" sz="1250" dirty="0"/>
          </a:p>
          <a:p>
            <a:pPr marL="177800" indent="-177800">
              <a:spcAft>
                <a:spcPts val="800"/>
              </a:spcAft>
              <a:buSzPct val="100000"/>
              <a:buChar char="●"/>
            </a:pPr>
            <a:r>
              <a:rPr lang="en-US" sz="1250" b="1" dirty="0">
                <a:solidFill>
                  <a:srgbClr val="1A1A1A"/>
                </a:solidFill>
                <a:latin typeface="Arial" pitchFamily="34" charset="0"/>
                <a:ea typeface="Arial" pitchFamily="34" charset="-122"/>
                <a:cs typeface="Arial" pitchFamily="34" charset="-120"/>
              </a:rPr>
              <a:t>To evaluate embedding quality, fraud detection is used as the benchmark task — chosen because labelled data is available</a:t>
            </a:r>
          </a:p>
          <a:p>
            <a:pPr>
              <a:spcAft>
                <a:spcPts val="800"/>
              </a:spcAft>
              <a:buSzPct val="100000"/>
            </a:pPr>
            <a:endParaRPr lang="en-US" sz="1250" dirty="0"/>
          </a:p>
          <a:p>
            <a:pPr marL="177800" indent="-177800">
              <a:spcAft>
                <a:spcPts val="800"/>
              </a:spcAft>
              <a:buSzPct val="100000"/>
              <a:buChar char="●"/>
            </a:pPr>
            <a:r>
              <a:rPr lang="en-US" sz="1250" b="1" dirty="0">
                <a:solidFill>
                  <a:srgbClr val="1A1A1A"/>
                </a:solidFill>
                <a:latin typeface="Arial" pitchFamily="34" charset="0"/>
                <a:ea typeface="Arial" pitchFamily="34" charset="-122"/>
                <a:cs typeface="Arial" pitchFamily="34" charset="-120"/>
              </a:rPr>
              <a:t>Compared three feature sets fed to a downstream classifier:</a:t>
            </a:r>
            <a:endParaRPr lang="en-US" sz="1250" dirty="0"/>
          </a:p>
          <a:p>
            <a:pPr marL="355600" lvl="1" indent="-177800">
              <a:spcAft>
                <a:spcPts val="800"/>
              </a:spcAft>
              <a:buSzPct val="100000"/>
              <a:buChar char="●"/>
            </a:pPr>
            <a:r>
              <a:rPr lang="en-US" sz="1250" dirty="0">
                <a:solidFill>
                  <a:srgbClr val="1A1A1A"/>
                </a:solidFill>
                <a:latin typeface="Arial" pitchFamily="34" charset="0"/>
                <a:ea typeface="Arial" pitchFamily="34" charset="-122"/>
                <a:cs typeface="Arial" pitchFamily="34" charset="-120"/>
              </a:rPr>
              <a:t>Raw tabular features (baseline)</a:t>
            </a:r>
            <a:endParaRPr lang="en-US" sz="1250" dirty="0"/>
          </a:p>
          <a:p>
            <a:pPr marL="355600" lvl="1" indent="-177800">
              <a:spcAft>
                <a:spcPts val="800"/>
              </a:spcAft>
              <a:buSzPct val="100000"/>
              <a:buChar char="●"/>
            </a:pPr>
            <a:r>
              <a:rPr lang="en-US" sz="1250" dirty="0">
                <a:solidFill>
                  <a:srgbClr val="1A1A1A"/>
                </a:solidFill>
                <a:latin typeface="Arial" pitchFamily="34" charset="0"/>
                <a:ea typeface="Arial" pitchFamily="34" charset="-122"/>
                <a:cs typeface="Arial" pitchFamily="34" charset="-120"/>
              </a:rPr>
              <a:t>Embeddings only (PCA 64-d)</a:t>
            </a:r>
            <a:endParaRPr lang="en-US" sz="1250" dirty="0"/>
          </a:p>
          <a:p>
            <a:pPr marL="355600" lvl="1" indent="-177800">
              <a:spcAft>
                <a:spcPts val="800"/>
              </a:spcAft>
              <a:buSzPct val="100000"/>
              <a:buChar char="●"/>
            </a:pPr>
            <a:r>
              <a:rPr lang="en-US" sz="1250" dirty="0">
                <a:solidFill>
                  <a:srgbClr val="1A1A1A"/>
                </a:solidFill>
                <a:latin typeface="Arial" pitchFamily="34" charset="0"/>
                <a:ea typeface="Arial" pitchFamily="34" charset="-122"/>
                <a:cs typeface="Arial" pitchFamily="34" charset="-120"/>
              </a:rPr>
              <a:t>Combined: raw + embeddings</a:t>
            </a:r>
          </a:p>
          <a:p>
            <a:pPr marL="177800" lvl="1">
              <a:spcAft>
                <a:spcPts val="800"/>
              </a:spcAft>
              <a:buSzPct val="100000"/>
            </a:pPr>
            <a:endParaRPr lang="en-US" sz="1250" dirty="0"/>
          </a:p>
          <a:p>
            <a:pPr marL="177800" indent="-177800">
              <a:spcAft>
                <a:spcPts val="800"/>
              </a:spcAft>
              <a:buSzPct val="100000"/>
              <a:buChar char="●"/>
            </a:pPr>
            <a:r>
              <a:rPr lang="en-US" sz="1250" b="1" dirty="0">
                <a:solidFill>
                  <a:srgbClr val="1A1A1A"/>
                </a:solidFill>
                <a:latin typeface="Arial" pitchFamily="34" charset="0"/>
                <a:ea typeface="Arial" pitchFamily="34" charset="-122"/>
                <a:cs typeface="Arial" pitchFamily="34" charset="-120"/>
              </a:rPr>
              <a:t>Combined beating both alone is evidence the embeddings hold complementary signal.</a:t>
            </a:r>
            <a:endParaRPr lang="en-US" sz="1250" dirty="0"/>
          </a:p>
        </p:txBody>
      </p:sp>
      <p:sp>
        <p:nvSpPr>
          <p:cNvPr id="6" name="Shape 3"/>
          <p:cNvSpPr/>
          <p:nvPr/>
        </p:nvSpPr>
        <p:spPr>
          <a:xfrm>
            <a:off x="6720840" y="1280160"/>
            <a:ext cx="2423160" cy="1005840"/>
          </a:xfrm>
          <a:prstGeom prst="roundRect">
            <a:avLst>
              <a:gd name="adj" fmla="val 8182"/>
            </a:avLst>
          </a:prstGeom>
          <a:solidFill>
            <a:srgbClr val="F8FAFC"/>
          </a:solidFill>
          <a:ln w="12700">
            <a:solidFill>
              <a:srgbClr val="E2E8F0"/>
            </a:solidFill>
            <a:prstDash val="solid"/>
          </a:ln>
        </p:spPr>
        <p:txBody>
          <a:bodyPr/>
          <a:lstStyle/>
          <a:p>
            <a:endParaRPr lang="en-IN"/>
          </a:p>
        </p:txBody>
      </p:sp>
      <p:sp>
        <p:nvSpPr>
          <p:cNvPr id="7" name="Text 4"/>
          <p:cNvSpPr/>
          <p:nvPr/>
        </p:nvSpPr>
        <p:spPr>
          <a:xfrm>
            <a:off x="6720840" y="1353312"/>
            <a:ext cx="2423160" cy="583387"/>
          </a:xfrm>
          <a:prstGeom prst="rect">
            <a:avLst/>
          </a:prstGeom>
          <a:noFill/>
          <a:ln/>
        </p:spPr>
        <p:txBody>
          <a:bodyPr wrap="square" lIns="0" tIns="0" rIns="0" bIns="0" rtlCol="0" anchor="b"/>
          <a:lstStyle/>
          <a:p>
            <a:pPr marL="0" indent="0" algn="ctr">
              <a:buNone/>
            </a:pPr>
            <a:r>
              <a:rPr lang="en-US" sz="2400" b="1" dirty="0">
                <a:solidFill>
                  <a:srgbClr val="000000"/>
                </a:solidFill>
                <a:latin typeface="Arial" pitchFamily="34" charset="0"/>
                <a:ea typeface="Arial" pitchFamily="34" charset="-122"/>
                <a:cs typeface="Arial" pitchFamily="34" charset="-120"/>
              </a:rPr>
              <a:t>0.9906</a:t>
            </a:r>
            <a:endParaRPr lang="en-US" sz="2400" dirty="0"/>
          </a:p>
        </p:txBody>
      </p:sp>
      <p:sp>
        <p:nvSpPr>
          <p:cNvPr id="8" name="Text 5"/>
          <p:cNvSpPr/>
          <p:nvPr/>
        </p:nvSpPr>
        <p:spPr>
          <a:xfrm>
            <a:off x="6720840" y="1883664"/>
            <a:ext cx="2423160" cy="382219"/>
          </a:xfrm>
          <a:prstGeom prst="rect">
            <a:avLst/>
          </a:prstGeom>
          <a:noFill/>
          <a:ln/>
        </p:spPr>
        <p:txBody>
          <a:bodyPr wrap="square" lIns="0" tIns="0" rIns="0" bIns="0" rtlCol="0" anchor="t"/>
          <a:lstStyle/>
          <a:p>
            <a:pPr marL="0" indent="0" algn="ctr">
              <a:buNone/>
            </a:pPr>
            <a:r>
              <a:rPr lang="en-US" sz="1000" dirty="0">
                <a:solidFill>
                  <a:srgbClr val="6B7280"/>
                </a:solidFill>
                <a:latin typeface="Arial" pitchFamily="34" charset="0"/>
                <a:ea typeface="Arial" pitchFamily="34" charset="-122"/>
                <a:cs typeface="Arial" pitchFamily="34" charset="-120"/>
              </a:rPr>
              <a:t>Combined ROC-AUC</a:t>
            </a:r>
            <a:endParaRPr lang="en-US" sz="1000" dirty="0"/>
          </a:p>
        </p:txBody>
      </p:sp>
      <p:sp>
        <p:nvSpPr>
          <p:cNvPr id="9" name="Shape 6"/>
          <p:cNvSpPr/>
          <p:nvPr/>
        </p:nvSpPr>
        <p:spPr>
          <a:xfrm>
            <a:off x="9281160" y="1280160"/>
            <a:ext cx="2423160" cy="1005840"/>
          </a:xfrm>
          <a:prstGeom prst="roundRect">
            <a:avLst>
              <a:gd name="adj" fmla="val 8182"/>
            </a:avLst>
          </a:prstGeom>
          <a:solidFill>
            <a:srgbClr val="F8FAFC"/>
          </a:solidFill>
          <a:ln w="12700">
            <a:solidFill>
              <a:srgbClr val="E2E8F0"/>
            </a:solidFill>
            <a:prstDash val="solid"/>
          </a:ln>
        </p:spPr>
        <p:txBody>
          <a:bodyPr/>
          <a:lstStyle/>
          <a:p>
            <a:endParaRPr lang="en-IN"/>
          </a:p>
        </p:txBody>
      </p:sp>
      <p:sp>
        <p:nvSpPr>
          <p:cNvPr id="10" name="Text 7"/>
          <p:cNvSpPr/>
          <p:nvPr/>
        </p:nvSpPr>
        <p:spPr>
          <a:xfrm>
            <a:off x="9281160" y="1353312"/>
            <a:ext cx="2423160" cy="583387"/>
          </a:xfrm>
          <a:prstGeom prst="rect">
            <a:avLst/>
          </a:prstGeom>
          <a:noFill/>
          <a:ln/>
        </p:spPr>
        <p:txBody>
          <a:bodyPr wrap="square" lIns="0" tIns="0" rIns="0" bIns="0" rtlCol="0" anchor="b"/>
          <a:lstStyle/>
          <a:p>
            <a:pPr marL="0" indent="0" algn="ctr">
              <a:buNone/>
            </a:pPr>
            <a:r>
              <a:rPr lang="en-US" sz="2400" b="1" dirty="0">
                <a:solidFill>
                  <a:srgbClr val="EA580C"/>
                </a:solidFill>
                <a:latin typeface="Arial" pitchFamily="34" charset="0"/>
                <a:ea typeface="Arial" pitchFamily="34" charset="-122"/>
                <a:cs typeface="Arial" pitchFamily="34" charset="-120"/>
              </a:rPr>
              <a:t>+14.5%</a:t>
            </a:r>
            <a:endParaRPr lang="en-US" sz="2400" dirty="0"/>
          </a:p>
        </p:txBody>
      </p:sp>
      <p:sp>
        <p:nvSpPr>
          <p:cNvPr id="11" name="Text 8"/>
          <p:cNvSpPr/>
          <p:nvPr/>
        </p:nvSpPr>
        <p:spPr>
          <a:xfrm>
            <a:off x="9281160" y="1883664"/>
            <a:ext cx="2423160" cy="382219"/>
          </a:xfrm>
          <a:prstGeom prst="rect">
            <a:avLst/>
          </a:prstGeom>
          <a:noFill/>
          <a:ln/>
        </p:spPr>
        <p:txBody>
          <a:bodyPr wrap="square" lIns="0" tIns="0" rIns="0" bIns="0" rtlCol="0" anchor="t"/>
          <a:lstStyle/>
          <a:p>
            <a:pPr marL="0" indent="0" algn="ctr">
              <a:buNone/>
            </a:pPr>
            <a:r>
              <a:rPr lang="en-US" sz="1000" dirty="0">
                <a:solidFill>
                  <a:srgbClr val="6B7280"/>
                </a:solidFill>
                <a:latin typeface="Arial" pitchFamily="34" charset="0"/>
                <a:ea typeface="Arial" pitchFamily="34" charset="-122"/>
                <a:cs typeface="Arial" pitchFamily="34" charset="-120"/>
              </a:rPr>
              <a:t>AP Lift vs Baseline</a:t>
            </a:r>
            <a:endParaRPr lang="en-US" sz="1000" dirty="0"/>
          </a:p>
        </p:txBody>
      </p:sp>
      <p:pic>
        <p:nvPicPr>
          <p:cNvPr id="15" name="Picture 14">
            <a:extLst>
              <a:ext uri="{FF2B5EF4-FFF2-40B4-BE49-F238E27FC236}">
                <a16:creationId xmlns:a16="http://schemas.microsoft.com/office/drawing/2014/main" id="{81754289-7FE7-28F5-B65A-E4E3BDCEE068}"/>
              </a:ext>
            </a:extLst>
          </p:cNvPr>
          <p:cNvPicPr>
            <a:picLocks noChangeAspect="1"/>
          </p:cNvPicPr>
          <p:nvPr/>
        </p:nvPicPr>
        <p:blipFill>
          <a:blip r:embed="rId4"/>
          <a:stretch>
            <a:fillRect/>
          </a:stretch>
        </p:blipFill>
        <p:spPr>
          <a:xfrm>
            <a:off x="5720806" y="2983096"/>
            <a:ext cx="6389914" cy="27075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Testing Generalization: A Structurally Different Dataset</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502920" y="1234440"/>
            <a:ext cx="3017520" cy="1920240"/>
          </a:xfrm>
          <a:prstGeom prst="roundRect">
            <a:avLst>
              <a:gd name="adj" fmla="val 4286"/>
            </a:avLst>
          </a:prstGeom>
          <a:solidFill>
            <a:srgbClr val="FFF7ED"/>
          </a:solidFill>
          <a:ln w="12700">
            <a:solidFill>
              <a:srgbClr val="D98159"/>
            </a:solidFill>
            <a:prstDash val="solid"/>
          </a:ln>
        </p:spPr>
        <p:txBody>
          <a:bodyPr/>
          <a:lstStyle/>
          <a:p>
            <a:endParaRPr lang="en-IN"/>
          </a:p>
        </p:txBody>
      </p:sp>
      <p:sp>
        <p:nvSpPr>
          <p:cNvPr id="6" name="Text 3"/>
          <p:cNvSpPr/>
          <p:nvPr/>
        </p:nvSpPr>
        <p:spPr>
          <a:xfrm>
            <a:off x="685800" y="1371600"/>
            <a:ext cx="2651760" cy="36576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IEEE-CIS Raw Schema</a:t>
            </a:r>
            <a:endParaRPr lang="en-US" sz="1300" dirty="0"/>
          </a:p>
        </p:txBody>
      </p:sp>
      <p:sp>
        <p:nvSpPr>
          <p:cNvPr id="7" name="Text 4"/>
          <p:cNvSpPr/>
          <p:nvPr/>
        </p:nvSpPr>
        <p:spPr>
          <a:xfrm>
            <a:off x="713232" y="1783080"/>
            <a:ext cx="2651760" cy="1234440"/>
          </a:xfrm>
          <a:prstGeom prst="rect">
            <a:avLst/>
          </a:prstGeom>
          <a:noFill/>
          <a:ln/>
        </p:spPr>
        <p:txBody>
          <a:bodyPr wrap="square" lIns="0" tIns="0" rIns="0" bIns="0" rtlCol="0" anchor="t"/>
          <a:lstStyle/>
          <a:p>
            <a:pPr marL="177800" indent="-177800">
              <a:spcAft>
                <a:spcPts val="600"/>
              </a:spcAft>
              <a:buSzPct val="100000"/>
              <a:buChar char="●"/>
            </a:pPr>
            <a:r>
              <a:rPr lang="en-US" sz="1000" dirty="0">
                <a:solidFill>
                  <a:srgbClr val="1A1A1A"/>
                </a:solidFill>
                <a:latin typeface="Arial" pitchFamily="34" charset="0"/>
                <a:ea typeface="Arial" pitchFamily="34" charset="-122"/>
                <a:cs typeface="Arial" pitchFamily="34" charset="-120"/>
              </a:rPr>
              <a:t>No explicit user / card ID</a:t>
            </a:r>
            <a:endParaRPr lang="en-US" sz="1000" dirty="0"/>
          </a:p>
          <a:p>
            <a:pPr marL="177800" indent="-177800">
              <a:spcAft>
                <a:spcPts val="600"/>
              </a:spcAft>
              <a:buSzPct val="100000"/>
              <a:buChar char="●"/>
            </a:pPr>
            <a:r>
              <a:rPr lang="en-US" sz="1000" dirty="0">
                <a:solidFill>
                  <a:srgbClr val="1A1A1A"/>
                </a:solidFill>
                <a:latin typeface="Arial" pitchFamily="34" charset="0"/>
                <a:ea typeface="Arial" pitchFamily="34" charset="-122"/>
                <a:cs typeface="Arial" pitchFamily="34" charset="-120"/>
              </a:rPr>
              <a:t>400+ columns, unfamiliar schema</a:t>
            </a:r>
            <a:endParaRPr lang="en-US" sz="1000" dirty="0"/>
          </a:p>
          <a:p>
            <a:pPr marL="177800" indent="-177800">
              <a:spcAft>
                <a:spcPts val="600"/>
              </a:spcAft>
              <a:buSzPct val="100000"/>
              <a:buChar char="●"/>
            </a:pPr>
            <a:r>
              <a:rPr lang="en-US" sz="1000" dirty="0">
                <a:solidFill>
                  <a:srgbClr val="1A1A1A"/>
                </a:solidFill>
                <a:latin typeface="Arial" pitchFamily="34" charset="0"/>
                <a:ea typeface="Arial" pitchFamily="34" charset="-122"/>
                <a:cs typeface="Arial" pitchFamily="34" charset="-120"/>
              </a:rPr>
              <a:t>Relative time deltas, not timestamps</a:t>
            </a:r>
            <a:endParaRPr lang="en-US" sz="1000" dirty="0"/>
          </a:p>
        </p:txBody>
      </p:sp>
      <p:sp>
        <p:nvSpPr>
          <p:cNvPr id="8" name="Text 5"/>
          <p:cNvSpPr/>
          <p:nvPr/>
        </p:nvSpPr>
        <p:spPr>
          <a:xfrm>
            <a:off x="3520440" y="1965960"/>
            <a:ext cx="274320" cy="457200"/>
          </a:xfrm>
          <a:prstGeom prst="rect">
            <a:avLst/>
          </a:prstGeom>
          <a:noFill/>
          <a:ln/>
        </p:spPr>
        <p:txBody>
          <a:bodyPr wrap="square" lIns="0" tIns="0" rIns="0" bIns="0" rtlCol="0" anchor="ctr"/>
          <a:lstStyle/>
          <a:p>
            <a:pPr marL="0" indent="0" algn="ctr">
              <a:buNone/>
            </a:pPr>
            <a:r>
              <a:rPr lang="en-US" sz="2000" b="1" dirty="0">
                <a:solidFill>
                  <a:srgbClr val="EA580C"/>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3794760" y="1234440"/>
            <a:ext cx="4572000" cy="1920240"/>
          </a:xfrm>
          <a:prstGeom prst="roundRect">
            <a:avLst>
              <a:gd name="adj" fmla="val 4286"/>
            </a:avLst>
          </a:prstGeom>
          <a:solidFill>
            <a:srgbClr val="F8FAFC"/>
          </a:solidFill>
          <a:ln w="12700">
            <a:solidFill>
              <a:srgbClr val="E2E8F0"/>
            </a:solidFill>
            <a:prstDash val="solid"/>
          </a:ln>
        </p:spPr>
        <p:txBody>
          <a:bodyPr/>
          <a:lstStyle/>
          <a:p>
            <a:endParaRPr lang="en-IN" dirty="0"/>
          </a:p>
        </p:txBody>
      </p:sp>
      <p:sp>
        <p:nvSpPr>
          <p:cNvPr id="10" name="Text 7"/>
          <p:cNvSpPr/>
          <p:nvPr/>
        </p:nvSpPr>
        <p:spPr>
          <a:xfrm>
            <a:off x="4023360" y="1371600"/>
            <a:ext cx="4114800" cy="36576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Adaptation Pipeline</a:t>
            </a:r>
            <a:endParaRPr lang="en-US" sz="1300" dirty="0"/>
          </a:p>
        </p:txBody>
      </p:sp>
      <p:sp>
        <p:nvSpPr>
          <p:cNvPr id="11" name="Text 8"/>
          <p:cNvSpPr/>
          <p:nvPr/>
        </p:nvSpPr>
        <p:spPr>
          <a:xfrm>
            <a:off x="4023360" y="1623060"/>
            <a:ext cx="4069080" cy="1234440"/>
          </a:xfrm>
          <a:prstGeom prst="rect">
            <a:avLst/>
          </a:prstGeom>
          <a:noFill/>
          <a:ln/>
        </p:spPr>
        <p:txBody>
          <a:bodyPr wrap="square" lIns="0" tIns="0" rIns="0" bIns="0" rtlCol="0" anchor="t"/>
          <a:lstStyle/>
          <a:p>
            <a:pPr>
              <a:spcAft>
                <a:spcPts val="600"/>
              </a:spcAft>
              <a:buSzPct val="100000"/>
            </a:pPr>
            <a:endParaRPr lang="en-US" sz="1030" dirty="0"/>
          </a:p>
          <a:p>
            <a:pPr marL="177800" indent="-177800">
              <a:spcAft>
                <a:spcPts val="600"/>
              </a:spcAft>
              <a:buSzPct val="100000"/>
              <a:buChar char="●"/>
            </a:pPr>
            <a:r>
              <a:rPr lang="en-US" sz="1030" dirty="0">
                <a:solidFill>
                  <a:srgbClr val="1A1A1A"/>
                </a:solidFill>
                <a:latin typeface="Arial" pitchFamily="34" charset="0"/>
                <a:ea typeface="Arial" pitchFamily="34" charset="-122"/>
                <a:cs typeface="Arial" pitchFamily="34" charset="-120"/>
              </a:rPr>
              <a:t>1. Temporal reconstruction</a:t>
            </a:r>
            <a:endParaRPr lang="en-US" sz="1030" dirty="0"/>
          </a:p>
          <a:p>
            <a:pPr marL="177800" indent="-177800">
              <a:spcAft>
                <a:spcPts val="600"/>
              </a:spcAft>
              <a:buSzPct val="100000"/>
              <a:buChar char="●"/>
            </a:pPr>
            <a:r>
              <a:rPr lang="en-US" sz="1030" dirty="0">
                <a:solidFill>
                  <a:srgbClr val="1A1A1A"/>
                </a:solidFill>
                <a:latin typeface="Arial" pitchFamily="34" charset="0"/>
                <a:ea typeface="Arial" pitchFamily="34" charset="-122"/>
                <a:cs typeface="Arial" pitchFamily="34" charset="-120"/>
              </a:rPr>
              <a:t>2. Feature mapping to 12-field schema</a:t>
            </a:r>
            <a:endParaRPr lang="en-US" sz="1030" dirty="0"/>
          </a:p>
          <a:p>
            <a:pPr marL="177800" indent="-177800">
              <a:spcAft>
                <a:spcPts val="600"/>
              </a:spcAft>
              <a:buSzPct val="100000"/>
              <a:buChar char="●"/>
            </a:pPr>
            <a:r>
              <a:rPr lang="en-US" sz="1030" dirty="0">
                <a:solidFill>
                  <a:srgbClr val="1A1A1A"/>
                </a:solidFill>
                <a:latin typeface="Arial" pitchFamily="34" charset="0"/>
                <a:ea typeface="Arial" pitchFamily="34" charset="-122"/>
                <a:cs typeface="Arial" pitchFamily="34" charset="-120"/>
              </a:rPr>
              <a:t>3. Chronological splitting</a:t>
            </a:r>
            <a:endParaRPr lang="en-US" sz="1030" dirty="0"/>
          </a:p>
        </p:txBody>
      </p:sp>
      <p:sp>
        <p:nvSpPr>
          <p:cNvPr id="12" name="Text 9"/>
          <p:cNvSpPr/>
          <p:nvPr/>
        </p:nvSpPr>
        <p:spPr>
          <a:xfrm>
            <a:off x="8366760" y="1965960"/>
            <a:ext cx="274320" cy="457200"/>
          </a:xfrm>
          <a:prstGeom prst="rect">
            <a:avLst/>
          </a:prstGeom>
          <a:noFill/>
          <a:ln/>
        </p:spPr>
        <p:txBody>
          <a:bodyPr wrap="square" lIns="0" tIns="0" rIns="0" bIns="0" rtlCol="0" anchor="ctr"/>
          <a:lstStyle/>
          <a:p>
            <a:pPr marL="0" indent="0" algn="ctr">
              <a:buNone/>
            </a:pPr>
            <a:r>
              <a:rPr lang="en-US" sz="2000" b="1" dirty="0">
                <a:solidFill>
                  <a:srgbClr val="EA580C"/>
                </a:solidFill>
                <a:latin typeface="Arial" pitchFamily="34" charset="0"/>
                <a:ea typeface="Arial" pitchFamily="34" charset="-122"/>
                <a:cs typeface="Arial" pitchFamily="34" charset="-120"/>
              </a:rPr>
              <a:t>→</a:t>
            </a:r>
            <a:endParaRPr lang="en-US" sz="2000" dirty="0"/>
          </a:p>
        </p:txBody>
      </p:sp>
      <p:sp>
        <p:nvSpPr>
          <p:cNvPr id="13" name="Shape 10"/>
          <p:cNvSpPr/>
          <p:nvPr/>
        </p:nvSpPr>
        <p:spPr>
          <a:xfrm>
            <a:off x="8641080" y="1234440"/>
            <a:ext cx="3017520" cy="1920240"/>
          </a:xfrm>
          <a:prstGeom prst="roundRect">
            <a:avLst>
              <a:gd name="adj" fmla="val 4286"/>
            </a:avLst>
          </a:prstGeom>
          <a:solidFill>
            <a:srgbClr val="FFF7ED"/>
          </a:solidFill>
          <a:ln w="12700">
            <a:solidFill>
              <a:srgbClr val="D98159"/>
            </a:solidFill>
            <a:prstDash val="solid"/>
          </a:ln>
        </p:spPr>
        <p:txBody>
          <a:bodyPr/>
          <a:lstStyle/>
          <a:p>
            <a:endParaRPr lang="en-IN"/>
          </a:p>
        </p:txBody>
      </p:sp>
      <p:sp>
        <p:nvSpPr>
          <p:cNvPr id="14" name="Text 11"/>
          <p:cNvSpPr/>
          <p:nvPr/>
        </p:nvSpPr>
        <p:spPr>
          <a:xfrm>
            <a:off x="8823960" y="1371600"/>
            <a:ext cx="2651760" cy="36576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NVIDIA Expected Schema</a:t>
            </a:r>
            <a:endParaRPr lang="en-US" sz="1300" dirty="0"/>
          </a:p>
        </p:txBody>
      </p:sp>
      <p:sp>
        <p:nvSpPr>
          <p:cNvPr id="15" name="Text 12"/>
          <p:cNvSpPr/>
          <p:nvPr/>
        </p:nvSpPr>
        <p:spPr>
          <a:xfrm>
            <a:off x="8851392" y="1783080"/>
            <a:ext cx="2651760" cy="1234440"/>
          </a:xfrm>
          <a:prstGeom prst="rect">
            <a:avLst/>
          </a:prstGeom>
          <a:noFill/>
          <a:ln/>
        </p:spPr>
        <p:txBody>
          <a:bodyPr wrap="square" lIns="0" tIns="0" rIns="0" bIns="0" rtlCol="0" anchor="t"/>
          <a:lstStyle/>
          <a:p>
            <a:pPr marL="177800" indent="-177800">
              <a:spcAft>
                <a:spcPts val="600"/>
              </a:spcAft>
              <a:buSzPct val="100000"/>
              <a:buChar char="●"/>
            </a:pPr>
            <a:r>
              <a:rPr lang="en-US" sz="1000" dirty="0">
                <a:solidFill>
                  <a:srgbClr val="1A1A1A"/>
                </a:solidFill>
                <a:latin typeface="Arial" pitchFamily="34" charset="0"/>
                <a:ea typeface="Arial" pitchFamily="34" charset="-122"/>
                <a:cs typeface="Arial" pitchFamily="34" charset="-120"/>
              </a:rPr>
              <a:t>12-field tokenizer schema</a:t>
            </a:r>
            <a:endParaRPr lang="en-US" sz="1000" dirty="0"/>
          </a:p>
          <a:p>
            <a:pPr marL="177800" indent="-177800">
              <a:spcAft>
                <a:spcPts val="600"/>
              </a:spcAft>
              <a:buSzPct val="100000"/>
              <a:buChar char="●"/>
            </a:pPr>
            <a:r>
              <a:rPr lang="en-US" sz="1000" dirty="0">
                <a:solidFill>
                  <a:srgbClr val="1A1A1A"/>
                </a:solidFill>
                <a:latin typeface="Arial" pitchFamily="34" charset="0"/>
                <a:ea typeface="Arial" pitchFamily="34" charset="-122"/>
                <a:cs typeface="Arial" pitchFamily="34" charset="-120"/>
              </a:rPr>
              <a:t>Chronologically grouped by pseudo-entity</a:t>
            </a:r>
            <a:endParaRPr lang="en-US" sz="1000" dirty="0"/>
          </a:p>
        </p:txBody>
      </p:sp>
      <p:sp>
        <p:nvSpPr>
          <p:cNvPr id="16" name="Shape 13"/>
          <p:cNvSpPr/>
          <p:nvPr/>
        </p:nvSpPr>
        <p:spPr>
          <a:xfrm>
            <a:off x="502920" y="3383280"/>
            <a:ext cx="5593080" cy="2651760"/>
          </a:xfrm>
          <a:prstGeom prst="roundRect">
            <a:avLst>
              <a:gd name="adj" fmla="val 3103"/>
            </a:avLst>
          </a:prstGeom>
          <a:solidFill>
            <a:srgbClr val="FFF7ED"/>
          </a:solidFill>
          <a:ln w="15875">
            <a:solidFill>
              <a:srgbClr val="FF9900"/>
            </a:solidFill>
            <a:prstDash val="solid"/>
          </a:ln>
        </p:spPr>
        <p:txBody>
          <a:bodyPr/>
          <a:lstStyle/>
          <a:p>
            <a:endParaRPr lang="en-IN"/>
          </a:p>
        </p:txBody>
      </p:sp>
      <p:sp>
        <p:nvSpPr>
          <p:cNvPr id="17" name="Text 14"/>
          <p:cNvSpPr/>
          <p:nvPr/>
        </p:nvSpPr>
        <p:spPr>
          <a:xfrm>
            <a:off x="777240" y="3520440"/>
            <a:ext cx="4994910" cy="2377440"/>
          </a:xfrm>
          <a:prstGeom prst="rect">
            <a:avLst/>
          </a:prstGeom>
          <a:noFill/>
          <a:ln/>
        </p:spPr>
        <p:txBody>
          <a:bodyPr wrap="square" lIns="0" tIns="0" rIns="0" bIns="0" rtlCol="0" anchor="t"/>
          <a:lstStyle/>
          <a:p>
            <a:pPr marL="0" indent="0">
              <a:lnSpc>
                <a:spcPct val="120000"/>
              </a:lnSpc>
              <a:buNone/>
            </a:pPr>
            <a:r>
              <a:rPr lang="en-US" sz="1200" b="1" dirty="0">
                <a:solidFill>
                  <a:srgbClr val="EA580C"/>
                </a:solidFill>
                <a:latin typeface="Arial" pitchFamily="34" charset="0"/>
                <a:ea typeface="Arial" pitchFamily="34" charset="-122"/>
                <a:cs typeface="Arial" pitchFamily="34" charset="-120"/>
              </a:rPr>
              <a:t>Goal:  </a:t>
            </a:r>
            <a:r>
              <a:rPr lang="en-US" sz="1200" dirty="0">
                <a:solidFill>
                  <a:srgbClr val="000000"/>
                </a:solidFill>
                <a:latin typeface="Arial" pitchFamily="34" charset="0"/>
                <a:ea typeface="Arial" pitchFamily="34" charset="-122"/>
                <a:cs typeface="Arial" pitchFamily="34" charset="-120"/>
              </a:rPr>
              <a:t>test whether the representation-learning approach — not a fraud-specific model — transfers to a new, structurally different dataset.
</a:t>
            </a:r>
            <a:r>
              <a:rPr lang="en-US" sz="1200" b="1" dirty="0">
                <a:solidFill>
                  <a:srgbClr val="000000"/>
                </a:solidFill>
                <a:latin typeface="Arial" pitchFamily="34" charset="0"/>
                <a:ea typeface="Arial" pitchFamily="34" charset="-122"/>
                <a:cs typeface="Arial" pitchFamily="34" charset="-120"/>
              </a:rPr>
              <a:t>Trained from scratch on IEEE-CIS: </a:t>
            </a:r>
            <a:r>
              <a:rPr lang="en-US" sz="1200" dirty="0">
                <a:solidFill>
                  <a:srgbClr val="1A1A1A"/>
                </a:solidFill>
                <a:latin typeface="Arial" pitchFamily="34" charset="0"/>
                <a:ea typeface="Arial" pitchFamily="34" charset="-122"/>
                <a:cs typeface="Arial" pitchFamily="34" charset="-120"/>
              </a:rPr>
              <a:t>~472K-row subset, 5 epochs (7,375 steps) — enough to validate the pipeline end-to-end, though limited in scale.</a:t>
            </a:r>
            <a:endParaRPr lang="en-US" sz="1200" dirty="0"/>
          </a:p>
        </p:txBody>
      </p:sp>
      <p:pic>
        <p:nvPicPr>
          <p:cNvPr id="18" name="Image 1" descr="/mnt/user-data/uploads/1784373899479_image.png"/>
          <p:cNvPicPr>
            <a:picLocks noChangeAspect="1"/>
          </p:cNvPicPr>
          <p:nvPr/>
        </p:nvPicPr>
        <p:blipFill>
          <a:blip r:embed="rId4"/>
          <a:stretch>
            <a:fillRect/>
          </a:stretch>
        </p:blipFill>
        <p:spPr>
          <a:xfrm>
            <a:off x="6370320" y="3291840"/>
            <a:ext cx="5539458" cy="3187981"/>
          </a:xfrm>
          <a:prstGeom prst="rect">
            <a:avLst/>
          </a:prstGeom>
        </p:spPr>
      </p:pic>
      <p:sp>
        <p:nvSpPr>
          <p:cNvPr id="20" name="Text 16"/>
          <p:cNvSpPr/>
          <p:nvPr/>
        </p:nvSpPr>
        <p:spPr>
          <a:xfrm>
            <a:off x="7159752" y="6400800"/>
            <a:ext cx="4343400" cy="457200"/>
          </a:xfrm>
          <a:prstGeom prst="rect">
            <a:avLst/>
          </a:prstGeom>
          <a:noFill/>
          <a:ln/>
        </p:spPr>
        <p:txBody>
          <a:bodyPr wrap="square" lIns="0" tIns="0" rIns="0" bIns="0" rtlCol="0" anchor="ctr"/>
          <a:lstStyle/>
          <a:p>
            <a:pPr marL="0" indent="0" algn="ctr">
              <a:buNone/>
            </a:pPr>
            <a:r>
              <a:rPr lang="en-US" sz="950" i="1" dirty="0">
                <a:solidFill>
                  <a:srgbClr val="6B7280"/>
                </a:solidFill>
                <a:latin typeface="Arial" pitchFamily="34" charset="0"/>
                <a:ea typeface="Arial" pitchFamily="34" charset="-122"/>
                <a:cs typeface="Arial" pitchFamily="34" charset="-120"/>
              </a:rPr>
              <a:t>Training log (Notebook 3, IEEE-CIS) — step 7,373/7,373, checkpoint saved</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Generalization Evidence — IEEE-CIS Benchmark</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Text 2"/>
          <p:cNvSpPr/>
          <p:nvPr/>
        </p:nvSpPr>
        <p:spPr>
          <a:xfrm>
            <a:off x="502920" y="1280160"/>
            <a:ext cx="6035040" cy="4846320"/>
          </a:xfrm>
          <a:prstGeom prst="rect">
            <a:avLst/>
          </a:prstGeom>
          <a:noFill/>
          <a:ln/>
        </p:spPr>
        <p:txBody>
          <a:bodyPr wrap="square" lIns="0" tIns="0" rIns="0" bIns="0" rtlCol="0" anchor="t"/>
          <a:lstStyle/>
          <a:p>
            <a:pPr marL="177800" indent="-177800">
              <a:spcAft>
                <a:spcPts val="900"/>
              </a:spcAft>
              <a:buSzPct val="100000"/>
              <a:buChar char="●"/>
            </a:pPr>
            <a:r>
              <a:rPr lang="en-US" sz="1280" b="1" dirty="0">
                <a:solidFill>
                  <a:srgbClr val="1A1A1A"/>
                </a:solidFill>
                <a:latin typeface="Arial" pitchFamily="34" charset="0"/>
                <a:ea typeface="Arial" pitchFamily="34" charset="-122"/>
                <a:cs typeface="Arial" pitchFamily="34" charset="-120"/>
              </a:rPr>
              <a:t>Same benchmark protocol as Phase 1: Raw / Embeddings-only / Combined</a:t>
            </a:r>
          </a:p>
          <a:p>
            <a:pPr>
              <a:spcAft>
                <a:spcPts val="900"/>
              </a:spcAft>
              <a:buSzPct val="100000"/>
            </a:pPr>
            <a:endParaRPr lang="en-US" sz="1280" dirty="0"/>
          </a:p>
          <a:p>
            <a:pPr marL="177800" indent="-177800">
              <a:spcAft>
                <a:spcPts val="900"/>
              </a:spcAft>
              <a:buSzPct val="100000"/>
              <a:buChar char="●"/>
            </a:pPr>
            <a:r>
              <a:rPr lang="en-US" sz="1280" b="1" dirty="0">
                <a:solidFill>
                  <a:srgbClr val="1A1A1A"/>
                </a:solidFill>
                <a:latin typeface="Arial" pitchFamily="34" charset="0"/>
                <a:ea typeface="Arial" pitchFamily="34" charset="-122"/>
                <a:cs typeface="Arial" pitchFamily="34" charset="-120"/>
              </a:rPr>
              <a:t>Same ordering holds: Embeddings-only &lt; Baseline &lt; Combined</a:t>
            </a:r>
          </a:p>
          <a:p>
            <a:pPr>
              <a:spcAft>
                <a:spcPts val="900"/>
              </a:spcAft>
              <a:buSzPct val="100000"/>
            </a:pPr>
            <a:endParaRPr lang="en-US" sz="1280" dirty="0"/>
          </a:p>
          <a:p>
            <a:pPr marL="177800" indent="-177800">
              <a:spcAft>
                <a:spcPts val="900"/>
              </a:spcAft>
              <a:buSzPct val="100000"/>
              <a:buChar char="●"/>
            </a:pPr>
            <a:r>
              <a:rPr lang="en-US" sz="1280" dirty="0">
                <a:solidFill>
                  <a:srgbClr val="1A1A1A"/>
                </a:solidFill>
                <a:latin typeface="Arial" pitchFamily="34" charset="0"/>
                <a:ea typeface="Arial" pitchFamily="34" charset="-122"/>
                <a:cs typeface="Arial" pitchFamily="34" charset="-120"/>
              </a:rPr>
              <a:t>Raw (13d): 0.7751 ROC-AUC, 0.1657 AP</a:t>
            </a:r>
            <a:endParaRPr lang="en-US" sz="1280" dirty="0"/>
          </a:p>
          <a:p>
            <a:pPr marL="355600" lvl="1" indent="-177800">
              <a:spcAft>
                <a:spcPts val="900"/>
              </a:spcAft>
              <a:buSzPct val="100000"/>
              <a:buChar char="●"/>
            </a:pPr>
            <a:r>
              <a:rPr lang="en-US" sz="1280" dirty="0">
                <a:solidFill>
                  <a:srgbClr val="1A1A1A"/>
                </a:solidFill>
                <a:latin typeface="Arial" pitchFamily="34" charset="0"/>
                <a:ea typeface="Arial" pitchFamily="34" charset="-122"/>
                <a:cs typeface="Arial" pitchFamily="34" charset="-120"/>
              </a:rPr>
              <a:t>Embeddings-only (64d): 0.6928 ROC-AUC, 0.0945 AP</a:t>
            </a:r>
            <a:endParaRPr lang="en-US" sz="1280" dirty="0"/>
          </a:p>
          <a:p>
            <a:pPr marL="355600" lvl="1" indent="-177800">
              <a:spcAft>
                <a:spcPts val="900"/>
              </a:spcAft>
              <a:buSzPct val="100000"/>
              <a:buChar char="●"/>
            </a:pPr>
            <a:r>
              <a:rPr lang="en-US" sz="1280" dirty="0">
                <a:solidFill>
                  <a:srgbClr val="1A1A1A"/>
                </a:solidFill>
                <a:latin typeface="Arial" pitchFamily="34" charset="0"/>
                <a:ea typeface="Arial" pitchFamily="34" charset="-122"/>
                <a:cs typeface="Arial" pitchFamily="34" charset="-120"/>
              </a:rPr>
              <a:t>Combined (77d): 0.7844 ROC-AUC, 0.1725 AP</a:t>
            </a:r>
          </a:p>
          <a:p>
            <a:pPr marL="177800" lvl="1">
              <a:spcAft>
                <a:spcPts val="900"/>
              </a:spcAft>
              <a:buSzPct val="100000"/>
            </a:pPr>
            <a:endParaRPr lang="en-US" sz="1280" dirty="0"/>
          </a:p>
          <a:p>
            <a:pPr marL="177800" indent="-177800">
              <a:spcAft>
                <a:spcPts val="900"/>
              </a:spcAft>
              <a:buSzPct val="100000"/>
              <a:buChar char="●"/>
            </a:pPr>
            <a:r>
              <a:rPr lang="en-US" sz="1280" dirty="0">
                <a:solidFill>
                  <a:srgbClr val="1A1A1A"/>
                </a:solidFill>
                <a:latin typeface="Arial" pitchFamily="34" charset="0"/>
                <a:ea typeface="Arial" pitchFamily="34" charset="-122"/>
                <a:cs typeface="Arial" pitchFamily="34" charset="-120"/>
              </a:rPr>
              <a:t>Smaller lift than Phase 1 (4.06% vs 14.5% AP) — expected, given a small subset and only 5 epochs of pretraining</a:t>
            </a:r>
          </a:p>
        </p:txBody>
      </p:sp>
      <p:sp>
        <p:nvSpPr>
          <p:cNvPr id="6" name="Shape 3"/>
          <p:cNvSpPr/>
          <p:nvPr/>
        </p:nvSpPr>
        <p:spPr>
          <a:xfrm>
            <a:off x="6720840" y="1280160"/>
            <a:ext cx="2423160" cy="1005840"/>
          </a:xfrm>
          <a:prstGeom prst="roundRect">
            <a:avLst>
              <a:gd name="adj" fmla="val 8182"/>
            </a:avLst>
          </a:prstGeom>
          <a:solidFill>
            <a:srgbClr val="F8FAFC"/>
          </a:solidFill>
          <a:ln w="12700">
            <a:solidFill>
              <a:srgbClr val="E2E8F0"/>
            </a:solidFill>
            <a:prstDash val="solid"/>
          </a:ln>
        </p:spPr>
        <p:txBody>
          <a:bodyPr/>
          <a:lstStyle/>
          <a:p>
            <a:endParaRPr lang="en-IN"/>
          </a:p>
        </p:txBody>
      </p:sp>
      <p:sp>
        <p:nvSpPr>
          <p:cNvPr id="7" name="Text 4"/>
          <p:cNvSpPr/>
          <p:nvPr/>
        </p:nvSpPr>
        <p:spPr>
          <a:xfrm>
            <a:off x="6720840" y="1353312"/>
            <a:ext cx="2423160" cy="583387"/>
          </a:xfrm>
          <a:prstGeom prst="rect">
            <a:avLst/>
          </a:prstGeom>
          <a:noFill/>
          <a:ln/>
        </p:spPr>
        <p:txBody>
          <a:bodyPr wrap="square" lIns="0" tIns="0" rIns="0" bIns="0" rtlCol="0" anchor="b"/>
          <a:lstStyle/>
          <a:p>
            <a:pPr marL="0" indent="0" algn="ctr">
              <a:buNone/>
            </a:pPr>
            <a:r>
              <a:rPr lang="en-US" sz="2400" b="1" dirty="0">
                <a:solidFill>
                  <a:srgbClr val="000000"/>
                </a:solidFill>
                <a:latin typeface="Arial" pitchFamily="34" charset="0"/>
                <a:ea typeface="Arial" pitchFamily="34" charset="-122"/>
                <a:cs typeface="Arial" pitchFamily="34" charset="-120"/>
              </a:rPr>
              <a:t>0.7844</a:t>
            </a:r>
            <a:endParaRPr lang="en-US" sz="2400" dirty="0"/>
          </a:p>
        </p:txBody>
      </p:sp>
      <p:sp>
        <p:nvSpPr>
          <p:cNvPr id="8" name="Text 5"/>
          <p:cNvSpPr/>
          <p:nvPr/>
        </p:nvSpPr>
        <p:spPr>
          <a:xfrm>
            <a:off x="6720840" y="1883664"/>
            <a:ext cx="2423160" cy="382219"/>
          </a:xfrm>
          <a:prstGeom prst="rect">
            <a:avLst/>
          </a:prstGeom>
          <a:noFill/>
          <a:ln/>
        </p:spPr>
        <p:txBody>
          <a:bodyPr wrap="square" lIns="0" tIns="0" rIns="0" bIns="0" rtlCol="0" anchor="t"/>
          <a:lstStyle/>
          <a:p>
            <a:pPr marL="0" indent="0" algn="ctr">
              <a:buNone/>
            </a:pPr>
            <a:r>
              <a:rPr lang="en-US" sz="1000" dirty="0">
                <a:solidFill>
                  <a:srgbClr val="6B7280"/>
                </a:solidFill>
                <a:latin typeface="Arial" pitchFamily="34" charset="0"/>
                <a:ea typeface="Arial" pitchFamily="34" charset="-122"/>
                <a:cs typeface="Arial" pitchFamily="34" charset="-120"/>
              </a:rPr>
              <a:t>Combined ROC-AUC</a:t>
            </a:r>
            <a:endParaRPr lang="en-US" sz="1000" dirty="0"/>
          </a:p>
        </p:txBody>
      </p:sp>
      <p:sp>
        <p:nvSpPr>
          <p:cNvPr id="9" name="Shape 6"/>
          <p:cNvSpPr/>
          <p:nvPr/>
        </p:nvSpPr>
        <p:spPr>
          <a:xfrm>
            <a:off x="9281160" y="1280160"/>
            <a:ext cx="2423160" cy="1005840"/>
          </a:xfrm>
          <a:prstGeom prst="roundRect">
            <a:avLst>
              <a:gd name="adj" fmla="val 8182"/>
            </a:avLst>
          </a:prstGeom>
          <a:solidFill>
            <a:srgbClr val="F8FAFC"/>
          </a:solidFill>
          <a:ln w="12700">
            <a:solidFill>
              <a:srgbClr val="E2E8F0"/>
            </a:solidFill>
            <a:prstDash val="solid"/>
          </a:ln>
        </p:spPr>
        <p:txBody>
          <a:bodyPr/>
          <a:lstStyle/>
          <a:p>
            <a:endParaRPr lang="en-IN"/>
          </a:p>
        </p:txBody>
      </p:sp>
      <p:sp>
        <p:nvSpPr>
          <p:cNvPr id="10" name="Text 7"/>
          <p:cNvSpPr/>
          <p:nvPr/>
        </p:nvSpPr>
        <p:spPr>
          <a:xfrm>
            <a:off x="9281160" y="1353312"/>
            <a:ext cx="2423160" cy="583387"/>
          </a:xfrm>
          <a:prstGeom prst="rect">
            <a:avLst/>
          </a:prstGeom>
          <a:noFill/>
          <a:ln/>
        </p:spPr>
        <p:txBody>
          <a:bodyPr wrap="square" lIns="0" tIns="0" rIns="0" bIns="0" rtlCol="0" anchor="b"/>
          <a:lstStyle/>
          <a:p>
            <a:pPr marL="0" indent="0" algn="ctr">
              <a:buNone/>
            </a:pPr>
            <a:r>
              <a:rPr lang="en-US" sz="2400" b="1" dirty="0">
                <a:solidFill>
                  <a:srgbClr val="EA580C"/>
                </a:solidFill>
                <a:latin typeface="Arial" pitchFamily="34" charset="0"/>
                <a:ea typeface="Arial" pitchFamily="34" charset="-122"/>
                <a:cs typeface="Arial" pitchFamily="34" charset="-120"/>
              </a:rPr>
              <a:t>+4.06%</a:t>
            </a:r>
            <a:endParaRPr lang="en-US" sz="2400" dirty="0"/>
          </a:p>
        </p:txBody>
      </p:sp>
      <p:sp>
        <p:nvSpPr>
          <p:cNvPr id="11" name="Text 8"/>
          <p:cNvSpPr/>
          <p:nvPr/>
        </p:nvSpPr>
        <p:spPr>
          <a:xfrm>
            <a:off x="9281160" y="1883664"/>
            <a:ext cx="2423160" cy="382219"/>
          </a:xfrm>
          <a:prstGeom prst="rect">
            <a:avLst/>
          </a:prstGeom>
          <a:noFill/>
          <a:ln/>
        </p:spPr>
        <p:txBody>
          <a:bodyPr wrap="square" lIns="0" tIns="0" rIns="0" bIns="0" rtlCol="0" anchor="t"/>
          <a:lstStyle/>
          <a:p>
            <a:pPr marL="0" indent="0" algn="ctr">
              <a:buNone/>
            </a:pPr>
            <a:r>
              <a:rPr lang="en-US" sz="1000" dirty="0">
                <a:solidFill>
                  <a:srgbClr val="6B7280"/>
                </a:solidFill>
                <a:latin typeface="Arial" pitchFamily="34" charset="0"/>
                <a:ea typeface="Arial" pitchFamily="34" charset="-122"/>
                <a:cs typeface="Arial" pitchFamily="34" charset="-120"/>
              </a:rPr>
              <a:t>AP Lift vs Baseline</a:t>
            </a:r>
            <a:endParaRPr lang="en-US" sz="1000" dirty="0"/>
          </a:p>
        </p:txBody>
      </p:sp>
      <p:pic>
        <p:nvPicPr>
          <p:cNvPr id="12" name="Image 1" descr="/mnt/user-data/uploads/1784373971033_image.png"/>
          <p:cNvPicPr>
            <a:picLocks noChangeAspect="1"/>
          </p:cNvPicPr>
          <p:nvPr/>
        </p:nvPicPr>
        <p:blipFill>
          <a:blip r:embed="rId4"/>
          <a:stretch>
            <a:fillRect/>
          </a:stretch>
        </p:blipFill>
        <p:spPr>
          <a:xfrm>
            <a:off x="6720840" y="2423160"/>
            <a:ext cx="4983480" cy="2208506"/>
          </a:xfrm>
          <a:prstGeom prst="rect">
            <a:avLst/>
          </a:prstGeom>
        </p:spPr>
      </p:pic>
      <p:sp>
        <p:nvSpPr>
          <p:cNvPr id="13" name="Shape 9"/>
          <p:cNvSpPr/>
          <p:nvPr/>
        </p:nvSpPr>
        <p:spPr>
          <a:xfrm>
            <a:off x="6720840" y="2423160"/>
            <a:ext cx="4983480" cy="2208506"/>
          </a:xfrm>
          <a:prstGeom prst="rect">
            <a:avLst/>
          </a:prstGeom>
          <a:ln w="12700">
            <a:solidFill>
              <a:srgbClr val="E2E8F0"/>
            </a:solidFill>
            <a:prstDash val="solid"/>
          </a:ln>
        </p:spPr>
        <p:txBody>
          <a:bodyPr/>
          <a:lstStyle/>
          <a:p>
            <a:endParaRPr lang="en-IN"/>
          </a:p>
        </p:txBody>
      </p:sp>
      <p:sp>
        <p:nvSpPr>
          <p:cNvPr id="14" name="Shape 10"/>
          <p:cNvSpPr/>
          <p:nvPr/>
        </p:nvSpPr>
        <p:spPr>
          <a:xfrm>
            <a:off x="6720840" y="4768826"/>
            <a:ext cx="4983480" cy="1371600"/>
          </a:xfrm>
          <a:prstGeom prst="roundRect">
            <a:avLst>
              <a:gd name="adj" fmla="val 6000"/>
            </a:avLst>
          </a:prstGeom>
          <a:solidFill>
            <a:srgbClr val="FFF7ED"/>
          </a:solidFill>
          <a:ln w="12700">
            <a:solidFill>
              <a:srgbClr val="FF9900"/>
            </a:solidFill>
            <a:prstDash val="solid"/>
          </a:ln>
        </p:spPr>
        <p:txBody>
          <a:bodyPr/>
          <a:lstStyle/>
          <a:p>
            <a:endParaRPr lang="en-IN"/>
          </a:p>
        </p:txBody>
      </p:sp>
      <p:sp>
        <p:nvSpPr>
          <p:cNvPr id="15" name="Text 11"/>
          <p:cNvSpPr/>
          <p:nvPr/>
        </p:nvSpPr>
        <p:spPr>
          <a:xfrm>
            <a:off x="6903720" y="4768826"/>
            <a:ext cx="4617720" cy="1371600"/>
          </a:xfrm>
          <a:prstGeom prst="rect">
            <a:avLst/>
          </a:prstGeom>
          <a:noFill/>
          <a:ln/>
        </p:spPr>
        <p:txBody>
          <a:bodyPr wrap="square" lIns="0" tIns="0" rIns="0" bIns="0" rtlCol="0" anchor="ctr"/>
          <a:lstStyle/>
          <a:p>
            <a:pPr marL="0" indent="0" algn="ctr">
              <a:lnSpc>
                <a:spcPct val="115000"/>
              </a:lnSpc>
              <a:buNone/>
            </a:pPr>
            <a:r>
              <a:rPr lang="en-US" sz="1200" b="1" i="1" dirty="0">
                <a:solidFill>
                  <a:srgbClr val="000000"/>
                </a:solidFill>
                <a:latin typeface="Arial" pitchFamily="34" charset="0"/>
                <a:ea typeface="Arial" pitchFamily="34" charset="-122"/>
                <a:cs typeface="Arial" pitchFamily="34" charset="-120"/>
              </a:rPr>
              <a:t>Same pattern replicates on a new dataset: embeddings carry transferable, complementary signal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Research Gap: What's Missing From the Representation</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523494" y="1316736"/>
            <a:ext cx="5349240" cy="2148840"/>
          </a:xfrm>
          <a:prstGeom prst="roundRect">
            <a:avLst>
              <a:gd name="adj" fmla="val 3830"/>
            </a:avLst>
          </a:prstGeom>
          <a:solidFill>
            <a:srgbClr val="F8FAFC"/>
          </a:solidFill>
          <a:ln w="12700">
            <a:solidFill>
              <a:srgbClr val="E2E8F0"/>
            </a:solidFill>
            <a:prstDash val="solid"/>
          </a:ln>
        </p:spPr>
        <p:txBody>
          <a:bodyPr/>
          <a:lstStyle/>
          <a:p>
            <a:endParaRPr lang="en-IN"/>
          </a:p>
        </p:txBody>
      </p:sp>
      <p:sp>
        <p:nvSpPr>
          <p:cNvPr id="6" name="Text 3"/>
          <p:cNvSpPr/>
          <p:nvPr/>
        </p:nvSpPr>
        <p:spPr>
          <a:xfrm>
            <a:off x="731520" y="1371600"/>
            <a:ext cx="4846320" cy="365760"/>
          </a:xfrm>
          <a:prstGeom prst="rect">
            <a:avLst/>
          </a:prstGeom>
          <a:noFill/>
          <a:ln/>
        </p:spPr>
        <p:txBody>
          <a:bodyPr wrap="square" lIns="0" tIns="0" rIns="0" bIns="0" rtlCol="0" anchor="ctr"/>
          <a:lstStyle/>
          <a:p>
            <a:pPr marL="0" indent="0">
              <a:buNone/>
            </a:pPr>
            <a:r>
              <a:rPr lang="en-US" sz="1300" b="1" dirty="0">
                <a:solidFill>
                  <a:srgbClr val="000000"/>
                </a:solidFill>
                <a:latin typeface="Arial" pitchFamily="34" charset="0"/>
                <a:ea typeface="Arial" pitchFamily="34" charset="-122"/>
                <a:cs typeface="Arial" pitchFamily="34" charset="-120"/>
              </a:rPr>
              <a:t>Captured: Temporal &amp; Sequential</a:t>
            </a:r>
            <a:endParaRPr lang="en-US" sz="1300" dirty="0"/>
          </a:p>
        </p:txBody>
      </p:sp>
      <p:sp>
        <p:nvSpPr>
          <p:cNvPr id="7" name="Shape 4"/>
          <p:cNvSpPr/>
          <p:nvPr/>
        </p:nvSpPr>
        <p:spPr>
          <a:xfrm>
            <a:off x="1417320" y="2720340"/>
            <a:ext cx="457200" cy="0"/>
          </a:xfrm>
          <a:prstGeom prst="line">
            <a:avLst/>
          </a:prstGeom>
          <a:noFill/>
          <a:ln w="25400">
            <a:solidFill>
              <a:srgbClr val="9AA5B4"/>
            </a:solidFill>
            <a:prstDash val="solid"/>
          </a:ln>
        </p:spPr>
        <p:txBody>
          <a:bodyPr/>
          <a:lstStyle/>
          <a:p>
            <a:endParaRPr lang="en-IN"/>
          </a:p>
        </p:txBody>
      </p:sp>
      <p:sp>
        <p:nvSpPr>
          <p:cNvPr id="8" name="Shape 5"/>
          <p:cNvSpPr/>
          <p:nvPr/>
        </p:nvSpPr>
        <p:spPr>
          <a:xfrm>
            <a:off x="1005840" y="2514600"/>
            <a:ext cx="411480" cy="411480"/>
          </a:xfrm>
          <a:prstGeom prst="ellipse">
            <a:avLst/>
          </a:prstGeom>
          <a:solidFill>
            <a:srgbClr val="2563EB"/>
          </a:solidFill>
          <a:ln/>
        </p:spPr>
        <p:txBody>
          <a:bodyPr/>
          <a:lstStyle/>
          <a:p>
            <a:endParaRPr lang="en-IN"/>
          </a:p>
        </p:txBody>
      </p:sp>
      <p:sp>
        <p:nvSpPr>
          <p:cNvPr id="9" name="Shape 6"/>
          <p:cNvSpPr/>
          <p:nvPr/>
        </p:nvSpPr>
        <p:spPr>
          <a:xfrm>
            <a:off x="2286000" y="2720340"/>
            <a:ext cx="457200" cy="0"/>
          </a:xfrm>
          <a:prstGeom prst="line">
            <a:avLst/>
          </a:prstGeom>
          <a:noFill/>
          <a:ln w="25400">
            <a:solidFill>
              <a:srgbClr val="9AA5B4"/>
            </a:solidFill>
            <a:prstDash val="solid"/>
          </a:ln>
        </p:spPr>
        <p:txBody>
          <a:bodyPr/>
          <a:lstStyle/>
          <a:p>
            <a:endParaRPr lang="en-IN"/>
          </a:p>
        </p:txBody>
      </p:sp>
      <p:sp>
        <p:nvSpPr>
          <p:cNvPr id="10" name="Shape 7"/>
          <p:cNvSpPr/>
          <p:nvPr/>
        </p:nvSpPr>
        <p:spPr>
          <a:xfrm>
            <a:off x="1874520" y="2514600"/>
            <a:ext cx="411480" cy="411480"/>
          </a:xfrm>
          <a:prstGeom prst="ellipse">
            <a:avLst/>
          </a:prstGeom>
          <a:solidFill>
            <a:srgbClr val="2563EB"/>
          </a:solidFill>
          <a:ln/>
        </p:spPr>
        <p:txBody>
          <a:bodyPr/>
          <a:lstStyle/>
          <a:p>
            <a:endParaRPr lang="en-IN"/>
          </a:p>
        </p:txBody>
      </p:sp>
      <p:sp>
        <p:nvSpPr>
          <p:cNvPr id="11" name="Shape 8"/>
          <p:cNvSpPr/>
          <p:nvPr/>
        </p:nvSpPr>
        <p:spPr>
          <a:xfrm>
            <a:off x="3154680" y="2720340"/>
            <a:ext cx="457200" cy="0"/>
          </a:xfrm>
          <a:prstGeom prst="line">
            <a:avLst/>
          </a:prstGeom>
          <a:noFill/>
          <a:ln w="25400">
            <a:solidFill>
              <a:srgbClr val="9AA5B4"/>
            </a:solidFill>
            <a:prstDash val="solid"/>
          </a:ln>
        </p:spPr>
        <p:txBody>
          <a:bodyPr/>
          <a:lstStyle/>
          <a:p>
            <a:endParaRPr lang="en-IN"/>
          </a:p>
        </p:txBody>
      </p:sp>
      <p:sp>
        <p:nvSpPr>
          <p:cNvPr id="12" name="Shape 9"/>
          <p:cNvSpPr/>
          <p:nvPr/>
        </p:nvSpPr>
        <p:spPr>
          <a:xfrm>
            <a:off x="2743200" y="2514600"/>
            <a:ext cx="411480" cy="411480"/>
          </a:xfrm>
          <a:prstGeom prst="ellipse">
            <a:avLst/>
          </a:prstGeom>
          <a:solidFill>
            <a:srgbClr val="2563EB"/>
          </a:solidFill>
          <a:ln/>
        </p:spPr>
        <p:txBody>
          <a:bodyPr/>
          <a:lstStyle/>
          <a:p>
            <a:endParaRPr lang="en-IN"/>
          </a:p>
        </p:txBody>
      </p:sp>
      <p:sp>
        <p:nvSpPr>
          <p:cNvPr id="13" name="Shape 10"/>
          <p:cNvSpPr/>
          <p:nvPr/>
        </p:nvSpPr>
        <p:spPr>
          <a:xfrm>
            <a:off x="4023360" y="2720340"/>
            <a:ext cx="457200" cy="0"/>
          </a:xfrm>
          <a:prstGeom prst="line">
            <a:avLst/>
          </a:prstGeom>
          <a:noFill/>
          <a:ln w="25400">
            <a:solidFill>
              <a:srgbClr val="9AA5B4"/>
            </a:solidFill>
            <a:prstDash val="solid"/>
          </a:ln>
        </p:spPr>
        <p:txBody>
          <a:bodyPr/>
          <a:lstStyle/>
          <a:p>
            <a:endParaRPr lang="en-IN"/>
          </a:p>
        </p:txBody>
      </p:sp>
      <p:sp>
        <p:nvSpPr>
          <p:cNvPr id="14" name="Shape 11"/>
          <p:cNvSpPr/>
          <p:nvPr/>
        </p:nvSpPr>
        <p:spPr>
          <a:xfrm>
            <a:off x="3611880" y="2514600"/>
            <a:ext cx="411480" cy="411480"/>
          </a:xfrm>
          <a:prstGeom prst="ellipse">
            <a:avLst/>
          </a:prstGeom>
          <a:solidFill>
            <a:srgbClr val="2563EB"/>
          </a:solidFill>
          <a:ln/>
        </p:spPr>
        <p:txBody>
          <a:bodyPr/>
          <a:lstStyle/>
          <a:p>
            <a:endParaRPr lang="en-IN"/>
          </a:p>
        </p:txBody>
      </p:sp>
      <p:sp>
        <p:nvSpPr>
          <p:cNvPr id="15" name="Shape 12"/>
          <p:cNvSpPr/>
          <p:nvPr/>
        </p:nvSpPr>
        <p:spPr>
          <a:xfrm>
            <a:off x="4480560" y="2514600"/>
            <a:ext cx="411480" cy="411480"/>
          </a:xfrm>
          <a:prstGeom prst="ellipse">
            <a:avLst/>
          </a:prstGeom>
          <a:solidFill>
            <a:srgbClr val="FF9900"/>
          </a:solidFill>
          <a:ln/>
        </p:spPr>
        <p:txBody>
          <a:bodyPr/>
          <a:lstStyle/>
          <a:p>
            <a:endParaRPr lang="en-IN"/>
          </a:p>
        </p:txBody>
      </p:sp>
      <p:sp>
        <p:nvSpPr>
          <p:cNvPr id="16" name="Text 13"/>
          <p:cNvSpPr/>
          <p:nvPr/>
        </p:nvSpPr>
        <p:spPr>
          <a:xfrm>
            <a:off x="722376" y="3044952"/>
            <a:ext cx="4846320" cy="365760"/>
          </a:xfrm>
          <a:prstGeom prst="rect">
            <a:avLst/>
          </a:prstGeom>
          <a:noFill/>
          <a:ln/>
        </p:spPr>
        <p:txBody>
          <a:bodyPr wrap="square" lIns="0" tIns="0" rIns="0" bIns="0" rtlCol="0" anchor="ctr"/>
          <a:lstStyle/>
          <a:p>
            <a:pPr marL="0" indent="0" algn="ctr">
              <a:buNone/>
            </a:pPr>
            <a:r>
              <a:rPr lang="en-US" sz="1050" i="1" dirty="0">
                <a:solidFill>
                  <a:srgbClr val="6B7280"/>
                </a:solidFill>
                <a:latin typeface="Arial" pitchFamily="34" charset="0"/>
                <a:ea typeface="Arial" pitchFamily="34" charset="-122"/>
                <a:cs typeface="Arial" pitchFamily="34" charset="-120"/>
              </a:rPr>
              <a:t>A transaction history modelled as an ordered sequence per account</a:t>
            </a:r>
            <a:endParaRPr lang="en-US" sz="1050" dirty="0"/>
          </a:p>
        </p:txBody>
      </p:sp>
      <p:sp>
        <p:nvSpPr>
          <p:cNvPr id="17" name="Shape 14"/>
          <p:cNvSpPr/>
          <p:nvPr/>
        </p:nvSpPr>
        <p:spPr>
          <a:xfrm>
            <a:off x="6039612" y="1316736"/>
            <a:ext cx="5349240" cy="2148840"/>
          </a:xfrm>
          <a:prstGeom prst="roundRect">
            <a:avLst>
              <a:gd name="adj" fmla="val 3830"/>
            </a:avLst>
          </a:prstGeom>
          <a:solidFill>
            <a:srgbClr val="FFF7ED"/>
          </a:solidFill>
          <a:ln w="12700">
            <a:solidFill>
              <a:srgbClr val="D98159"/>
            </a:solidFill>
            <a:prstDash val="solid"/>
          </a:ln>
        </p:spPr>
        <p:txBody>
          <a:bodyPr/>
          <a:lstStyle/>
          <a:p>
            <a:endParaRPr lang="en-IN"/>
          </a:p>
        </p:txBody>
      </p:sp>
      <p:sp>
        <p:nvSpPr>
          <p:cNvPr id="18" name="Text 15"/>
          <p:cNvSpPr/>
          <p:nvPr/>
        </p:nvSpPr>
        <p:spPr>
          <a:xfrm>
            <a:off x="6263640" y="1371600"/>
            <a:ext cx="4846320" cy="365760"/>
          </a:xfrm>
          <a:prstGeom prst="rect">
            <a:avLst/>
          </a:prstGeom>
          <a:noFill/>
          <a:ln/>
        </p:spPr>
        <p:txBody>
          <a:bodyPr wrap="square" lIns="0" tIns="0" rIns="0" bIns="0" rtlCol="0" anchor="ctr"/>
          <a:lstStyle/>
          <a:p>
            <a:pPr marL="0" indent="0">
              <a:buNone/>
            </a:pPr>
            <a:r>
              <a:rPr lang="en-US" sz="1300" b="1" dirty="0">
                <a:solidFill>
                  <a:srgbClr val="9B2C2C"/>
                </a:solidFill>
                <a:latin typeface="Arial" pitchFamily="34" charset="0"/>
                <a:ea typeface="Arial" pitchFamily="34" charset="-122"/>
                <a:cs typeface="Arial" pitchFamily="34" charset="-120"/>
              </a:rPr>
              <a:t>Missing: Relational Structure</a:t>
            </a:r>
            <a:endParaRPr lang="en-US" sz="1300" dirty="0"/>
          </a:p>
        </p:txBody>
      </p:sp>
      <p:sp>
        <p:nvSpPr>
          <p:cNvPr id="19" name="Shape 16"/>
          <p:cNvSpPr/>
          <p:nvPr/>
        </p:nvSpPr>
        <p:spPr>
          <a:xfrm flipV="1">
            <a:off x="7068312" y="2039112"/>
            <a:ext cx="1645920" cy="182880"/>
          </a:xfrm>
          <a:prstGeom prst="line">
            <a:avLst/>
          </a:prstGeom>
          <a:noFill/>
          <a:ln w="19050">
            <a:solidFill>
              <a:srgbClr val="9B2C2C"/>
            </a:solidFill>
            <a:prstDash val="solid"/>
          </a:ln>
        </p:spPr>
        <p:txBody>
          <a:bodyPr/>
          <a:lstStyle/>
          <a:p>
            <a:endParaRPr lang="en-IN"/>
          </a:p>
        </p:txBody>
      </p:sp>
      <p:sp>
        <p:nvSpPr>
          <p:cNvPr id="20" name="Shape 17"/>
          <p:cNvSpPr/>
          <p:nvPr/>
        </p:nvSpPr>
        <p:spPr>
          <a:xfrm>
            <a:off x="8714232" y="2039112"/>
            <a:ext cx="1737360" cy="274320"/>
          </a:xfrm>
          <a:prstGeom prst="line">
            <a:avLst/>
          </a:prstGeom>
          <a:noFill/>
          <a:ln w="19050">
            <a:solidFill>
              <a:srgbClr val="9B2C2C"/>
            </a:solidFill>
            <a:prstDash val="solid"/>
          </a:ln>
        </p:spPr>
        <p:txBody>
          <a:bodyPr/>
          <a:lstStyle/>
          <a:p>
            <a:endParaRPr lang="en-IN"/>
          </a:p>
        </p:txBody>
      </p:sp>
      <p:sp>
        <p:nvSpPr>
          <p:cNvPr id="21" name="Shape 18"/>
          <p:cNvSpPr/>
          <p:nvPr/>
        </p:nvSpPr>
        <p:spPr>
          <a:xfrm>
            <a:off x="7068312" y="2221992"/>
            <a:ext cx="640080" cy="822960"/>
          </a:xfrm>
          <a:prstGeom prst="line">
            <a:avLst/>
          </a:prstGeom>
          <a:noFill/>
          <a:ln w="19050">
            <a:solidFill>
              <a:srgbClr val="9B2C2C"/>
            </a:solidFill>
            <a:prstDash val="solid"/>
          </a:ln>
        </p:spPr>
        <p:txBody>
          <a:bodyPr/>
          <a:lstStyle/>
          <a:p>
            <a:endParaRPr lang="en-IN"/>
          </a:p>
        </p:txBody>
      </p:sp>
      <p:sp>
        <p:nvSpPr>
          <p:cNvPr id="22" name="Shape 19"/>
          <p:cNvSpPr/>
          <p:nvPr/>
        </p:nvSpPr>
        <p:spPr>
          <a:xfrm>
            <a:off x="7708392" y="3044952"/>
            <a:ext cx="2103120" cy="45720"/>
          </a:xfrm>
          <a:prstGeom prst="line">
            <a:avLst/>
          </a:prstGeom>
          <a:noFill/>
          <a:ln w="19050">
            <a:solidFill>
              <a:srgbClr val="9B2C2C"/>
            </a:solidFill>
            <a:prstDash val="solid"/>
          </a:ln>
        </p:spPr>
        <p:txBody>
          <a:bodyPr/>
          <a:lstStyle/>
          <a:p>
            <a:endParaRPr lang="en-IN"/>
          </a:p>
        </p:txBody>
      </p:sp>
      <p:sp>
        <p:nvSpPr>
          <p:cNvPr id="23" name="Shape 20"/>
          <p:cNvSpPr/>
          <p:nvPr/>
        </p:nvSpPr>
        <p:spPr>
          <a:xfrm flipV="1">
            <a:off x="9811512" y="2313432"/>
            <a:ext cx="640080" cy="777240"/>
          </a:xfrm>
          <a:prstGeom prst="line">
            <a:avLst/>
          </a:prstGeom>
          <a:noFill/>
          <a:ln w="19050">
            <a:solidFill>
              <a:srgbClr val="9B2C2C"/>
            </a:solidFill>
            <a:prstDash val="solid"/>
          </a:ln>
        </p:spPr>
        <p:txBody>
          <a:bodyPr/>
          <a:lstStyle/>
          <a:p>
            <a:endParaRPr lang="en-IN"/>
          </a:p>
        </p:txBody>
      </p:sp>
      <p:sp>
        <p:nvSpPr>
          <p:cNvPr id="24" name="Shape 21"/>
          <p:cNvSpPr/>
          <p:nvPr/>
        </p:nvSpPr>
        <p:spPr>
          <a:xfrm>
            <a:off x="7114032" y="2221992"/>
            <a:ext cx="2628900" cy="822960"/>
          </a:xfrm>
          <a:prstGeom prst="line">
            <a:avLst/>
          </a:prstGeom>
          <a:noFill/>
          <a:ln w="19050">
            <a:solidFill>
              <a:srgbClr val="9B2C2C"/>
            </a:solidFill>
            <a:prstDash val="solid"/>
          </a:ln>
        </p:spPr>
        <p:txBody>
          <a:bodyPr/>
          <a:lstStyle/>
          <a:p>
            <a:endParaRPr lang="en-IN"/>
          </a:p>
        </p:txBody>
      </p:sp>
      <p:sp>
        <p:nvSpPr>
          <p:cNvPr id="25" name="Shape 22"/>
          <p:cNvSpPr/>
          <p:nvPr/>
        </p:nvSpPr>
        <p:spPr>
          <a:xfrm>
            <a:off x="6949440" y="2103120"/>
            <a:ext cx="219456" cy="219456"/>
          </a:xfrm>
          <a:prstGeom prst="ellipse">
            <a:avLst/>
          </a:prstGeom>
          <a:solidFill>
            <a:srgbClr val="9B2C2C"/>
          </a:solidFill>
          <a:ln/>
        </p:spPr>
        <p:txBody>
          <a:bodyPr/>
          <a:lstStyle/>
          <a:p>
            <a:endParaRPr lang="en-IN"/>
          </a:p>
        </p:txBody>
      </p:sp>
      <p:sp>
        <p:nvSpPr>
          <p:cNvPr id="26" name="Shape 23"/>
          <p:cNvSpPr/>
          <p:nvPr/>
        </p:nvSpPr>
        <p:spPr>
          <a:xfrm>
            <a:off x="8595360" y="1920240"/>
            <a:ext cx="219456" cy="219456"/>
          </a:xfrm>
          <a:prstGeom prst="ellipse">
            <a:avLst/>
          </a:prstGeom>
          <a:solidFill>
            <a:srgbClr val="9B2C2C"/>
          </a:solidFill>
          <a:ln/>
        </p:spPr>
        <p:txBody>
          <a:bodyPr/>
          <a:lstStyle/>
          <a:p>
            <a:endParaRPr lang="en-IN"/>
          </a:p>
        </p:txBody>
      </p:sp>
      <p:sp>
        <p:nvSpPr>
          <p:cNvPr id="27" name="Shape 24"/>
          <p:cNvSpPr/>
          <p:nvPr/>
        </p:nvSpPr>
        <p:spPr>
          <a:xfrm>
            <a:off x="10332720" y="2194560"/>
            <a:ext cx="219456" cy="219456"/>
          </a:xfrm>
          <a:prstGeom prst="ellipse">
            <a:avLst/>
          </a:prstGeom>
          <a:solidFill>
            <a:srgbClr val="9B2C2C"/>
          </a:solidFill>
          <a:ln/>
        </p:spPr>
        <p:txBody>
          <a:bodyPr/>
          <a:lstStyle/>
          <a:p>
            <a:endParaRPr lang="en-IN"/>
          </a:p>
        </p:txBody>
      </p:sp>
      <p:sp>
        <p:nvSpPr>
          <p:cNvPr id="28" name="Shape 25"/>
          <p:cNvSpPr/>
          <p:nvPr/>
        </p:nvSpPr>
        <p:spPr>
          <a:xfrm>
            <a:off x="7589520" y="2926080"/>
            <a:ext cx="219456" cy="219456"/>
          </a:xfrm>
          <a:prstGeom prst="ellipse">
            <a:avLst/>
          </a:prstGeom>
          <a:solidFill>
            <a:srgbClr val="9B2C2C"/>
          </a:solidFill>
          <a:ln/>
        </p:spPr>
        <p:txBody>
          <a:bodyPr/>
          <a:lstStyle/>
          <a:p>
            <a:endParaRPr lang="en-IN"/>
          </a:p>
        </p:txBody>
      </p:sp>
      <p:sp>
        <p:nvSpPr>
          <p:cNvPr id="29" name="Shape 26"/>
          <p:cNvSpPr/>
          <p:nvPr/>
        </p:nvSpPr>
        <p:spPr>
          <a:xfrm>
            <a:off x="9692640" y="2971800"/>
            <a:ext cx="219456" cy="219456"/>
          </a:xfrm>
          <a:prstGeom prst="ellipse">
            <a:avLst/>
          </a:prstGeom>
          <a:solidFill>
            <a:srgbClr val="9B2C2C"/>
          </a:solidFill>
          <a:ln/>
        </p:spPr>
        <p:txBody>
          <a:bodyPr/>
          <a:lstStyle/>
          <a:p>
            <a:endParaRPr lang="en-IN"/>
          </a:p>
        </p:txBody>
      </p:sp>
      <p:sp>
        <p:nvSpPr>
          <p:cNvPr id="30" name="Text 27"/>
          <p:cNvSpPr/>
          <p:nvPr/>
        </p:nvSpPr>
        <p:spPr>
          <a:xfrm>
            <a:off x="6291072" y="3099816"/>
            <a:ext cx="4846320" cy="365760"/>
          </a:xfrm>
          <a:prstGeom prst="rect">
            <a:avLst/>
          </a:prstGeom>
          <a:noFill/>
          <a:ln/>
        </p:spPr>
        <p:txBody>
          <a:bodyPr wrap="square" lIns="0" tIns="0" rIns="0" bIns="0" rtlCol="0" anchor="ctr"/>
          <a:lstStyle/>
          <a:p>
            <a:pPr marL="0" indent="0" algn="ctr">
              <a:buNone/>
            </a:pPr>
            <a:r>
              <a:rPr lang="en-US" sz="1050" i="1" dirty="0">
                <a:solidFill>
                  <a:srgbClr val="6B7280"/>
                </a:solidFill>
                <a:latin typeface="Arial" pitchFamily="34" charset="0"/>
                <a:ea typeface="Arial" pitchFamily="34" charset="-122"/>
                <a:cs typeface="Arial" pitchFamily="34" charset="-120"/>
              </a:rPr>
              <a:t>Accounts, merchants &amp; companies connected through shared transactions</a:t>
            </a:r>
            <a:endParaRPr lang="en-US" sz="1050" dirty="0"/>
          </a:p>
        </p:txBody>
      </p:sp>
      <p:sp>
        <p:nvSpPr>
          <p:cNvPr id="31" name="Shape 28"/>
          <p:cNvSpPr/>
          <p:nvPr/>
        </p:nvSpPr>
        <p:spPr>
          <a:xfrm>
            <a:off x="502920" y="3611880"/>
            <a:ext cx="11183112" cy="1691640"/>
          </a:xfrm>
          <a:prstGeom prst="roundRect">
            <a:avLst>
              <a:gd name="adj" fmla="val 4865"/>
            </a:avLst>
          </a:prstGeom>
          <a:solidFill>
            <a:srgbClr val="FFF7ED"/>
          </a:solidFill>
          <a:ln w="15875">
            <a:solidFill>
              <a:srgbClr val="FF9900"/>
            </a:solidFill>
            <a:prstDash val="solid"/>
          </a:ln>
        </p:spPr>
        <p:txBody>
          <a:bodyPr/>
          <a:lstStyle/>
          <a:p>
            <a:endParaRPr lang="en-IN"/>
          </a:p>
        </p:txBody>
      </p:sp>
      <p:sp>
        <p:nvSpPr>
          <p:cNvPr id="32" name="Text 29"/>
          <p:cNvSpPr/>
          <p:nvPr/>
        </p:nvSpPr>
        <p:spPr>
          <a:xfrm>
            <a:off x="822960" y="3749040"/>
            <a:ext cx="10561320" cy="1417320"/>
          </a:xfrm>
          <a:prstGeom prst="rect">
            <a:avLst/>
          </a:prstGeom>
          <a:noFill/>
          <a:ln/>
        </p:spPr>
        <p:txBody>
          <a:bodyPr wrap="square" lIns="0" tIns="0" rIns="0" bIns="0" rtlCol="0" anchor="ctr"/>
          <a:lstStyle/>
          <a:p>
            <a:pPr marL="0" indent="0" algn="ctr">
              <a:lnSpc>
                <a:spcPct val="120000"/>
              </a:lnSpc>
              <a:buNone/>
            </a:pPr>
            <a:r>
              <a:rPr lang="en-US" sz="1400" b="1" i="1" dirty="0">
                <a:solidFill>
                  <a:srgbClr val="000000"/>
                </a:solidFill>
                <a:latin typeface="Arial" pitchFamily="34" charset="0"/>
                <a:ea typeface="Arial" pitchFamily="34" charset="-122"/>
                <a:cs typeface="Arial" pitchFamily="34" charset="-120"/>
              </a:rPr>
              <a:t>This is a limitation of the representation itself, </a:t>
            </a:r>
            <a:r>
              <a:rPr lang="en-US" sz="1400" i="1" dirty="0">
                <a:solidFill>
                  <a:srgbClr val="1A1A1A"/>
                </a:solidFill>
                <a:latin typeface="Arial" pitchFamily="34" charset="0"/>
                <a:ea typeface="Arial" pitchFamily="34" charset="-122"/>
                <a:cs typeface="Arial" pitchFamily="34" charset="-120"/>
              </a:rPr>
              <a:t>not of any one downstream task — it affects fraud detection, AML, credit risk, and recommendation alike, since all of them would build on these same embeddings.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Proposed Future Work</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Shape 2"/>
          <p:cNvSpPr/>
          <p:nvPr/>
        </p:nvSpPr>
        <p:spPr>
          <a:xfrm>
            <a:off x="902056" y="1234440"/>
            <a:ext cx="2377440" cy="777240"/>
          </a:xfrm>
          <a:prstGeom prst="roundRect">
            <a:avLst>
              <a:gd name="adj" fmla="val 9412"/>
            </a:avLst>
          </a:prstGeom>
          <a:solidFill>
            <a:srgbClr val="F8FAFC"/>
          </a:solidFill>
          <a:ln w="15875">
            <a:solidFill>
              <a:srgbClr val="E2E8F0"/>
            </a:solidFill>
            <a:prstDash val="solid"/>
          </a:ln>
        </p:spPr>
        <p:txBody>
          <a:bodyPr/>
          <a:lstStyle/>
          <a:p>
            <a:endParaRPr lang="en-IN"/>
          </a:p>
        </p:txBody>
      </p:sp>
      <p:sp>
        <p:nvSpPr>
          <p:cNvPr id="6" name="Text 3"/>
          <p:cNvSpPr/>
          <p:nvPr/>
        </p:nvSpPr>
        <p:spPr>
          <a:xfrm>
            <a:off x="975208" y="1234440"/>
            <a:ext cx="22311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Transaction</a:t>
            </a:r>
            <a:endParaRPr lang="en-US" sz="1100" dirty="0"/>
          </a:p>
          <a:p>
            <a:pPr marL="0" indent="0" algn="ctr">
              <a:buNone/>
            </a:pPr>
            <a:r>
              <a:rPr lang="en-US" sz="1100" b="1" dirty="0">
                <a:solidFill>
                  <a:srgbClr val="000000"/>
                </a:solidFill>
                <a:latin typeface="Arial" pitchFamily="34" charset="0"/>
                <a:ea typeface="Arial" pitchFamily="34" charset="-122"/>
                <a:cs typeface="Arial" pitchFamily="34" charset="-120"/>
              </a:rPr>
              <a:t>Sequences</a:t>
            </a:r>
            <a:endParaRPr lang="en-US" sz="1100" dirty="0"/>
          </a:p>
        </p:txBody>
      </p:sp>
      <p:sp>
        <p:nvSpPr>
          <p:cNvPr id="7" name="Text 4"/>
          <p:cNvSpPr/>
          <p:nvPr/>
        </p:nvSpPr>
        <p:spPr>
          <a:xfrm>
            <a:off x="3279496" y="1458468"/>
            <a:ext cx="292608" cy="329184"/>
          </a:xfrm>
          <a:prstGeom prst="rect">
            <a:avLst/>
          </a:prstGeom>
          <a:noFill/>
          <a:ln/>
        </p:spPr>
        <p:txBody>
          <a:bodyPr wrap="square" lIns="0" tIns="0" rIns="0" bIns="0" rtlCol="0" anchor="ctr"/>
          <a:lstStyle/>
          <a:p>
            <a:pPr marL="0" indent="0" algn="ctr">
              <a:buNone/>
            </a:pPr>
            <a:r>
              <a:rPr lang="en-US" sz="1600" b="1" dirty="0">
                <a:solidFill>
                  <a:srgbClr val="EA580C"/>
                </a:solidFill>
                <a:latin typeface="Arial" pitchFamily="34" charset="0"/>
                <a:ea typeface="Arial" pitchFamily="34" charset="-122"/>
                <a:cs typeface="Arial" pitchFamily="34" charset="-120"/>
              </a:rPr>
              <a:t>→</a:t>
            </a:r>
            <a:endParaRPr lang="en-US" sz="1600" dirty="0"/>
          </a:p>
        </p:txBody>
      </p:sp>
      <p:sp>
        <p:nvSpPr>
          <p:cNvPr id="8" name="Shape 5"/>
          <p:cNvSpPr/>
          <p:nvPr/>
        </p:nvSpPr>
        <p:spPr>
          <a:xfrm>
            <a:off x="3572104" y="1234440"/>
            <a:ext cx="2377440" cy="777240"/>
          </a:xfrm>
          <a:prstGeom prst="roundRect">
            <a:avLst>
              <a:gd name="adj" fmla="val 9412"/>
            </a:avLst>
          </a:prstGeom>
          <a:solidFill>
            <a:srgbClr val="F8FAFC"/>
          </a:solidFill>
          <a:ln w="15875">
            <a:solidFill>
              <a:srgbClr val="E2E8F0"/>
            </a:solidFill>
            <a:prstDash val="solid"/>
          </a:ln>
        </p:spPr>
        <p:txBody>
          <a:bodyPr/>
          <a:lstStyle/>
          <a:p>
            <a:endParaRPr lang="en-IN"/>
          </a:p>
        </p:txBody>
      </p:sp>
      <p:sp>
        <p:nvSpPr>
          <p:cNvPr id="9" name="Text 6"/>
          <p:cNvSpPr/>
          <p:nvPr/>
        </p:nvSpPr>
        <p:spPr>
          <a:xfrm>
            <a:off x="3645256" y="1234440"/>
            <a:ext cx="22311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Financial</a:t>
            </a:r>
            <a:endParaRPr lang="en-US" sz="1100" dirty="0"/>
          </a:p>
          <a:p>
            <a:pPr marL="0" indent="0" algn="ctr">
              <a:buNone/>
            </a:pPr>
            <a:r>
              <a:rPr lang="en-US" sz="1100" b="1" dirty="0">
                <a:solidFill>
                  <a:srgbClr val="000000"/>
                </a:solidFill>
                <a:latin typeface="Arial" pitchFamily="34" charset="0"/>
                <a:ea typeface="Arial" pitchFamily="34" charset="-122"/>
                <a:cs typeface="Arial" pitchFamily="34" charset="-120"/>
              </a:rPr>
              <a:t>Tokenizer</a:t>
            </a:r>
            <a:endParaRPr lang="en-US" sz="1100" dirty="0"/>
          </a:p>
        </p:txBody>
      </p:sp>
      <p:sp>
        <p:nvSpPr>
          <p:cNvPr id="10" name="Text 7"/>
          <p:cNvSpPr/>
          <p:nvPr/>
        </p:nvSpPr>
        <p:spPr>
          <a:xfrm>
            <a:off x="5949544" y="1458468"/>
            <a:ext cx="292608" cy="329184"/>
          </a:xfrm>
          <a:prstGeom prst="rect">
            <a:avLst/>
          </a:prstGeom>
          <a:noFill/>
          <a:ln/>
        </p:spPr>
        <p:txBody>
          <a:bodyPr wrap="square" lIns="0" tIns="0" rIns="0" bIns="0" rtlCol="0" anchor="ctr"/>
          <a:lstStyle/>
          <a:p>
            <a:pPr marL="0" indent="0" algn="ctr">
              <a:buNone/>
            </a:pPr>
            <a:r>
              <a:rPr lang="en-US" sz="1600" b="1" dirty="0">
                <a:solidFill>
                  <a:srgbClr val="EA580C"/>
                </a:solidFill>
                <a:latin typeface="Arial" pitchFamily="34" charset="0"/>
                <a:ea typeface="Arial" pitchFamily="34" charset="-122"/>
                <a:cs typeface="Arial" pitchFamily="34" charset="-120"/>
              </a:rPr>
              <a:t>→</a:t>
            </a:r>
            <a:endParaRPr lang="en-US" sz="1600" dirty="0"/>
          </a:p>
        </p:txBody>
      </p:sp>
      <p:sp>
        <p:nvSpPr>
          <p:cNvPr id="11" name="Shape 8"/>
          <p:cNvSpPr/>
          <p:nvPr/>
        </p:nvSpPr>
        <p:spPr>
          <a:xfrm>
            <a:off x="6242152" y="1234440"/>
            <a:ext cx="2377440" cy="777240"/>
          </a:xfrm>
          <a:prstGeom prst="roundRect">
            <a:avLst>
              <a:gd name="adj" fmla="val 9412"/>
            </a:avLst>
          </a:prstGeom>
          <a:solidFill>
            <a:srgbClr val="F8FAFC"/>
          </a:solidFill>
          <a:ln w="15875">
            <a:solidFill>
              <a:srgbClr val="E2E8F0"/>
            </a:solidFill>
            <a:prstDash val="solid"/>
          </a:ln>
        </p:spPr>
        <p:txBody>
          <a:bodyPr/>
          <a:lstStyle/>
          <a:p>
            <a:endParaRPr lang="en-IN"/>
          </a:p>
        </p:txBody>
      </p:sp>
      <p:sp>
        <p:nvSpPr>
          <p:cNvPr id="12" name="Text 9"/>
          <p:cNvSpPr/>
          <p:nvPr/>
        </p:nvSpPr>
        <p:spPr>
          <a:xfrm>
            <a:off x="6315304" y="1234440"/>
            <a:ext cx="22311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Decoder Foundation</a:t>
            </a:r>
            <a:endParaRPr lang="en-US" sz="1100" dirty="0"/>
          </a:p>
          <a:p>
            <a:pPr marL="0" indent="0" algn="ctr">
              <a:buNone/>
            </a:pPr>
            <a:r>
              <a:rPr lang="en-US" sz="1100" b="1" dirty="0">
                <a:solidFill>
                  <a:srgbClr val="000000"/>
                </a:solidFill>
                <a:latin typeface="Arial" pitchFamily="34" charset="0"/>
                <a:ea typeface="Arial" pitchFamily="34" charset="-122"/>
                <a:cs typeface="Arial" pitchFamily="34" charset="-120"/>
              </a:rPr>
              <a:t>Model</a:t>
            </a:r>
            <a:endParaRPr lang="en-US" sz="1100" dirty="0"/>
          </a:p>
        </p:txBody>
      </p:sp>
      <p:sp>
        <p:nvSpPr>
          <p:cNvPr id="13" name="Text 10"/>
          <p:cNvSpPr/>
          <p:nvPr/>
        </p:nvSpPr>
        <p:spPr>
          <a:xfrm>
            <a:off x="8619592" y="1458468"/>
            <a:ext cx="292608" cy="329184"/>
          </a:xfrm>
          <a:prstGeom prst="rect">
            <a:avLst/>
          </a:prstGeom>
          <a:noFill/>
          <a:ln/>
        </p:spPr>
        <p:txBody>
          <a:bodyPr wrap="square" lIns="0" tIns="0" rIns="0" bIns="0" rtlCol="0" anchor="ctr"/>
          <a:lstStyle/>
          <a:p>
            <a:pPr marL="0" indent="0" algn="ctr">
              <a:buNone/>
            </a:pPr>
            <a:r>
              <a:rPr lang="en-US" sz="1600" b="1" dirty="0">
                <a:solidFill>
                  <a:srgbClr val="EA580C"/>
                </a:solidFill>
                <a:latin typeface="Arial" pitchFamily="34" charset="0"/>
                <a:ea typeface="Arial" pitchFamily="34" charset="-122"/>
                <a:cs typeface="Arial" pitchFamily="34" charset="-120"/>
              </a:rPr>
              <a:t>→</a:t>
            </a:r>
            <a:endParaRPr lang="en-US" sz="1600" dirty="0"/>
          </a:p>
        </p:txBody>
      </p:sp>
      <p:sp>
        <p:nvSpPr>
          <p:cNvPr id="14" name="Shape 11"/>
          <p:cNvSpPr/>
          <p:nvPr/>
        </p:nvSpPr>
        <p:spPr>
          <a:xfrm>
            <a:off x="8912200" y="1234440"/>
            <a:ext cx="2377440" cy="777240"/>
          </a:xfrm>
          <a:prstGeom prst="roundRect">
            <a:avLst>
              <a:gd name="adj" fmla="val 9412"/>
            </a:avLst>
          </a:prstGeom>
          <a:solidFill>
            <a:srgbClr val="F8FAFC"/>
          </a:solidFill>
          <a:ln w="15875">
            <a:solidFill>
              <a:srgbClr val="E2E8F0"/>
            </a:solidFill>
            <a:prstDash val="solid"/>
          </a:ln>
        </p:spPr>
        <p:txBody>
          <a:bodyPr/>
          <a:lstStyle/>
          <a:p>
            <a:endParaRPr lang="en-IN"/>
          </a:p>
        </p:txBody>
      </p:sp>
      <p:sp>
        <p:nvSpPr>
          <p:cNvPr id="15" name="Text 12"/>
          <p:cNvSpPr/>
          <p:nvPr/>
        </p:nvSpPr>
        <p:spPr>
          <a:xfrm>
            <a:off x="8985352" y="1234440"/>
            <a:ext cx="22311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Transaction</a:t>
            </a:r>
            <a:endParaRPr lang="en-US" sz="1100" dirty="0"/>
          </a:p>
          <a:p>
            <a:pPr marL="0" indent="0" algn="ctr">
              <a:buNone/>
            </a:pPr>
            <a:r>
              <a:rPr lang="en-US" sz="1100" b="1" dirty="0">
                <a:solidFill>
                  <a:srgbClr val="000000"/>
                </a:solidFill>
                <a:latin typeface="Arial" pitchFamily="34" charset="0"/>
                <a:ea typeface="Arial" pitchFamily="34" charset="-122"/>
                <a:cs typeface="Arial" pitchFamily="34" charset="-120"/>
              </a:rPr>
              <a:t>Embeddings</a:t>
            </a:r>
            <a:endParaRPr lang="en-US" sz="1100" dirty="0"/>
          </a:p>
        </p:txBody>
      </p:sp>
      <p:sp>
        <p:nvSpPr>
          <p:cNvPr id="16" name="Text 13"/>
          <p:cNvSpPr/>
          <p:nvPr/>
        </p:nvSpPr>
        <p:spPr>
          <a:xfrm>
            <a:off x="5912968" y="2057400"/>
            <a:ext cx="365760" cy="320040"/>
          </a:xfrm>
          <a:prstGeom prst="rect">
            <a:avLst/>
          </a:prstGeom>
          <a:noFill/>
          <a:ln/>
        </p:spPr>
        <p:txBody>
          <a:bodyPr wrap="square" lIns="0" tIns="0" rIns="0" bIns="0" rtlCol="0" anchor="ctr"/>
          <a:lstStyle/>
          <a:p>
            <a:pPr marL="0" indent="0" algn="ctr">
              <a:buNone/>
            </a:pPr>
            <a:r>
              <a:rPr lang="en-US" sz="1800" b="1" dirty="0">
                <a:solidFill>
                  <a:srgbClr val="EA580C"/>
                </a:solidFill>
                <a:latin typeface="Arial" pitchFamily="34" charset="0"/>
                <a:ea typeface="Arial" pitchFamily="34" charset="-122"/>
                <a:cs typeface="Arial" pitchFamily="34" charset="-120"/>
              </a:rPr>
              <a:t>↓</a:t>
            </a:r>
            <a:endParaRPr lang="en-US" sz="1800" dirty="0"/>
          </a:p>
        </p:txBody>
      </p:sp>
      <p:sp>
        <p:nvSpPr>
          <p:cNvPr id="17" name="Shape 14"/>
          <p:cNvSpPr/>
          <p:nvPr/>
        </p:nvSpPr>
        <p:spPr>
          <a:xfrm>
            <a:off x="1551280" y="2423160"/>
            <a:ext cx="2834640" cy="777240"/>
          </a:xfrm>
          <a:prstGeom prst="roundRect">
            <a:avLst>
              <a:gd name="adj" fmla="val 9412"/>
            </a:avLst>
          </a:prstGeom>
          <a:solidFill>
            <a:srgbClr val="FFF7ED"/>
          </a:solidFill>
          <a:ln w="15875">
            <a:solidFill>
              <a:srgbClr val="FF9900"/>
            </a:solidFill>
            <a:prstDash val="dash"/>
          </a:ln>
        </p:spPr>
        <p:txBody>
          <a:bodyPr/>
          <a:lstStyle/>
          <a:p>
            <a:endParaRPr lang="en-IN"/>
          </a:p>
        </p:txBody>
      </p:sp>
      <p:sp>
        <p:nvSpPr>
          <p:cNvPr id="18" name="Text 15"/>
          <p:cNvSpPr/>
          <p:nvPr/>
        </p:nvSpPr>
        <p:spPr>
          <a:xfrm>
            <a:off x="1624432" y="2423160"/>
            <a:ext cx="26883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Graph</a:t>
            </a:r>
            <a:endParaRPr lang="en-US" sz="1100" dirty="0"/>
          </a:p>
          <a:p>
            <a:pPr marL="0" indent="0" algn="ctr">
              <a:buNone/>
            </a:pPr>
            <a:r>
              <a:rPr lang="en-US" sz="1100" b="1" dirty="0">
                <a:solidFill>
                  <a:srgbClr val="000000"/>
                </a:solidFill>
                <a:latin typeface="Arial" pitchFamily="34" charset="0"/>
                <a:ea typeface="Arial" pitchFamily="34" charset="-122"/>
                <a:cs typeface="Arial" pitchFamily="34" charset="-120"/>
              </a:rPr>
              <a:t>Construction</a:t>
            </a:r>
            <a:endParaRPr lang="en-US" sz="1100" dirty="0"/>
          </a:p>
        </p:txBody>
      </p:sp>
      <p:sp>
        <p:nvSpPr>
          <p:cNvPr id="19" name="Text 16"/>
          <p:cNvSpPr/>
          <p:nvPr/>
        </p:nvSpPr>
        <p:spPr>
          <a:xfrm>
            <a:off x="4385920" y="2647188"/>
            <a:ext cx="292608" cy="329184"/>
          </a:xfrm>
          <a:prstGeom prst="rect">
            <a:avLst/>
          </a:prstGeom>
          <a:noFill/>
          <a:ln/>
        </p:spPr>
        <p:txBody>
          <a:bodyPr wrap="square" lIns="0" tIns="0" rIns="0" bIns="0" rtlCol="0" anchor="ctr"/>
          <a:lstStyle/>
          <a:p>
            <a:pPr marL="0" indent="0" algn="ctr">
              <a:buNone/>
            </a:pPr>
            <a:r>
              <a:rPr lang="en-US" sz="1600" b="1" dirty="0">
                <a:solidFill>
                  <a:srgbClr val="EA580C"/>
                </a:solidFill>
                <a:latin typeface="Arial" pitchFamily="34" charset="0"/>
                <a:ea typeface="Arial" pitchFamily="34" charset="-122"/>
                <a:cs typeface="Arial" pitchFamily="34" charset="-120"/>
              </a:rPr>
              <a:t>→</a:t>
            </a:r>
            <a:endParaRPr lang="en-US" sz="1600" dirty="0"/>
          </a:p>
        </p:txBody>
      </p:sp>
      <p:sp>
        <p:nvSpPr>
          <p:cNvPr id="20" name="Shape 17"/>
          <p:cNvSpPr/>
          <p:nvPr/>
        </p:nvSpPr>
        <p:spPr>
          <a:xfrm>
            <a:off x="4678528" y="2423160"/>
            <a:ext cx="2834640" cy="777240"/>
          </a:xfrm>
          <a:prstGeom prst="roundRect">
            <a:avLst>
              <a:gd name="adj" fmla="val 9412"/>
            </a:avLst>
          </a:prstGeom>
          <a:solidFill>
            <a:srgbClr val="FFF7ED"/>
          </a:solidFill>
          <a:ln w="15875">
            <a:solidFill>
              <a:srgbClr val="FF9900"/>
            </a:solidFill>
            <a:prstDash val="dash"/>
          </a:ln>
        </p:spPr>
        <p:txBody>
          <a:bodyPr/>
          <a:lstStyle/>
          <a:p>
            <a:endParaRPr lang="en-IN"/>
          </a:p>
        </p:txBody>
      </p:sp>
      <p:sp>
        <p:nvSpPr>
          <p:cNvPr id="21" name="Text 18"/>
          <p:cNvSpPr/>
          <p:nvPr/>
        </p:nvSpPr>
        <p:spPr>
          <a:xfrm>
            <a:off x="4751680" y="2423160"/>
            <a:ext cx="26883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Graph Representational Learning</a:t>
            </a:r>
          </a:p>
          <a:p>
            <a:pPr marL="0" indent="0" algn="ctr">
              <a:buNone/>
            </a:pPr>
            <a:r>
              <a:rPr lang="en-US" sz="1100" b="1" dirty="0">
                <a:solidFill>
                  <a:srgbClr val="000000"/>
                </a:solidFill>
                <a:latin typeface="Arial" pitchFamily="34" charset="0"/>
                <a:ea typeface="Arial" pitchFamily="34" charset="-122"/>
                <a:cs typeface="Arial" pitchFamily="34" charset="-120"/>
              </a:rPr>
              <a:t>(GCN, GNN, GAT)</a:t>
            </a:r>
            <a:endParaRPr lang="en-US" sz="1100" dirty="0"/>
          </a:p>
        </p:txBody>
      </p:sp>
      <p:sp>
        <p:nvSpPr>
          <p:cNvPr id="22" name="Text 19"/>
          <p:cNvSpPr/>
          <p:nvPr/>
        </p:nvSpPr>
        <p:spPr>
          <a:xfrm>
            <a:off x="7513168" y="2647188"/>
            <a:ext cx="292608" cy="329184"/>
          </a:xfrm>
          <a:prstGeom prst="rect">
            <a:avLst/>
          </a:prstGeom>
          <a:noFill/>
          <a:ln/>
        </p:spPr>
        <p:txBody>
          <a:bodyPr wrap="square" lIns="0" tIns="0" rIns="0" bIns="0" rtlCol="0" anchor="ctr"/>
          <a:lstStyle/>
          <a:p>
            <a:pPr marL="0" indent="0" algn="ctr">
              <a:buNone/>
            </a:pPr>
            <a:r>
              <a:rPr lang="en-US" sz="1600" b="1" dirty="0">
                <a:solidFill>
                  <a:srgbClr val="EA580C"/>
                </a:solidFill>
                <a:latin typeface="Arial" pitchFamily="34" charset="0"/>
                <a:ea typeface="Arial" pitchFamily="34" charset="-122"/>
                <a:cs typeface="Arial" pitchFamily="34" charset="-120"/>
              </a:rPr>
              <a:t>→</a:t>
            </a:r>
            <a:endParaRPr lang="en-US" sz="1600" dirty="0"/>
          </a:p>
        </p:txBody>
      </p:sp>
      <p:sp>
        <p:nvSpPr>
          <p:cNvPr id="23" name="Shape 20"/>
          <p:cNvSpPr/>
          <p:nvPr/>
        </p:nvSpPr>
        <p:spPr>
          <a:xfrm>
            <a:off x="7805776" y="2423160"/>
            <a:ext cx="2834640" cy="777240"/>
          </a:xfrm>
          <a:prstGeom prst="roundRect">
            <a:avLst>
              <a:gd name="adj" fmla="val 9412"/>
            </a:avLst>
          </a:prstGeom>
          <a:solidFill>
            <a:srgbClr val="FFF7ED"/>
          </a:solidFill>
          <a:ln w="15875">
            <a:solidFill>
              <a:srgbClr val="FF9900"/>
            </a:solidFill>
            <a:prstDash val="dash"/>
          </a:ln>
        </p:spPr>
        <p:txBody>
          <a:bodyPr/>
          <a:lstStyle/>
          <a:p>
            <a:endParaRPr lang="en-IN"/>
          </a:p>
        </p:txBody>
      </p:sp>
      <p:sp>
        <p:nvSpPr>
          <p:cNvPr id="24" name="Text 21"/>
          <p:cNvSpPr/>
          <p:nvPr/>
        </p:nvSpPr>
        <p:spPr>
          <a:xfrm>
            <a:off x="7878928" y="2423160"/>
            <a:ext cx="2688336"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Relational Transaction</a:t>
            </a:r>
            <a:endParaRPr lang="en-US" sz="1100" dirty="0"/>
          </a:p>
          <a:p>
            <a:pPr marL="0" indent="0" algn="ctr">
              <a:buNone/>
            </a:pPr>
            <a:r>
              <a:rPr lang="en-US" sz="1100" b="1" dirty="0">
                <a:solidFill>
                  <a:srgbClr val="000000"/>
                </a:solidFill>
                <a:latin typeface="Arial" pitchFamily="34" charset="0"/>
                <a:ea typeface="Arial" pitchFamily="34" charset="-122"/>
                <a:cs typeface="Arial" pitchFamily="34" charset="-120"/>
              </a:rPr>
              <a:t>Embeddings</a:t>
            </a:r>
            <a:endParaRPr lang="en-US" sz="1100" dirty="0"/>
          </a:p>
        </p:txBody>
      </p:sp>
      <p:sp>
        <p:nvSpPr>
          <p:cNvPr id="25" name="Text 22"/>
          <p:cNvSpPr/>
          <p:nvPr/>
        </p:nvSpPr>
        <p:spPr>
          <a:xfrm>
            <a:off x="502920" y="3520440"/>
            <a:ext cx="4572000" cy="274320"/>
          </a:xfrm>
          <a:prstGeom prst="rect">
            <a:avLst/>
          </a:prstGeom>
          <a:noFill/>
          <a:ln/>
        </p:spPr>
        <p:txBody>
          <a:bodyPr wrap="square" lIns="0" tIns="0" rIns="0" bIns="0" rtlCol="0" anchor="ctr"/>
          <a:lstStyle/>
          <a:p>
            <a:pPr marL="0" indent="0">
              <a:buNone/>
            </a:pPr>
            <a:r>
              <a:rPr lang="en-US" sz="1200" b="1" dirty="0">
                <a:solidFill>
                  <a:srgbClr val="000000"/>
                </a:solidFill>
                <a:latin typeface="Arial" pitchFamily="34" charset="0"/>
                <a:ea typeface="Arial" pitchFamily="34" charset="-122"/>
                <a:cs typeface="Arial" pitchFamily="34" charset="-120"/>
              </a:rPr>
              <a:t>Enriches multiple downstream tasks:</a:t>
            </a:r>
            <a:endParaRPr lang="en-US" sz="1200" dirty="0"/>
          </a:p>
        </p:txBody>
      </p:sp>
      <p:sp>
        <p:nvSpPr>
          <p:cNvPr id="26" name="Shape 23"/>
          <p:cNvSpPr/>
          <p:nvPr/>
        </p:nvSpPr>
        <p:spPr>
          <a:xfrm>
            <a:off x="502920" y="3840480"/>
            <a:ext cx="3566160" cy="384048"/>
          </a:xfrm>
          <a:prstGeom prst="roundRect">
            <a:avLst>
              <a:gd name="adj" fmla="val 59524"/>
            </a:avLst>
          </a:prstGeom>
          <a:solidFill>
            <a:srgbClr val="FFF7ED"/>
          </a:solidFill>
          <a:ln w="12700">
            <a:solidFill>
              <a:srgbClr val="FF9900"/>
            </a:solidFill>
            <a:prstDash val="solid"/>
          </a:ln>
        </p:spPr>
        <p:txBody>
          <a:bodyPr/>
          <a:lstStyle/>
          <a:p>
            <a:endParaRPr lang="en-IN"/>
          </a:p>
        </p:txBody>
      </p:sp>
      <p:sp>
        <p:nvSpPr>
          <p:cNvPr id="27" name="Text 24"/>
          <p:cNvSpPr/>
          <p:nvPr/>
        </p:nvSpPr>
        <p:spPr>
          <a:xfrm>
            <a:off x="502920" y="3840480"/>
            <a:ext cx="3566160" cy="384048"/>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Fraud Detection</a:t>
            </a:r>
            <a:endParaRPr lang="en-US" sz="1150" dirty="0"/>
          </a:p>
        </p:txBody>
      </p:sp>
      <p:sp>
        <p:nvSpPr>
          <p:cNvPr id="28" name="Shape 25"/>
          <p:cNvSpPr/>
          <p:nvPr/>
        </p:nvSpPr>
        <p:spPr>
          <a:xfrm>
            <a:off x="4297680" y="3840480"/>
            <a:ext cx="3566160" cy="384048"/>
          </a:xfrm>
          <a:prstGeom prst="roundRect">
            <a:avLst>
              <a:gd name="adj" fmla="val 59524"/>
            </a:avLst>
          </a:prstGeom>
          <a:solidFill>
            <a:srgbClr val="FFF7ED"/>
          </a:solidFill>
          <a:ln w="12700">
            <a:solidFill>
              <a:srgbClr val="FF9900"/>
            </a:solidFill>
            <a:prstDash val="solid"/>
          </a:ln>
        </p:spPr>
        <p:txBody>
          <a:bodyPr/>
          <a:lstStyle/>
          <a:p>
            <a:endParaRPr lang="en-IN"/>
          </a:p>
        </p:txBody>
      </p:sp>
      <p:sp>
        <p:nvSpPr>
          <p:cNvPr id="29" name="Text 26"/>
          <p:cNvSpPr/>
          <p:nvPr/>
        </p:nvSpPr>
        <p:spPr>
          <a:xfrm>
            <a:off x="4297680" y="3840480"/>
            <a:ext cx="3566160" cy="384048"/>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AML</a:t>
            </a:r>
            <a:endParaRPr lang="en-US" sz="1150" dirty="0"/>
          </a:p>
        </p:txBody>
      </p:sp>
      <p:sp>
        <p:nvSpPr>
          <p:cNvPr id="30" name="Shape 27"/>
          <p:cNvSpPr/>
          <p:nvPr/>
        </p:nvSpPr>
        <p:spPr>
          <a:xfrm>
            <a:off x="8092440" y="3840480"/>
            <a:ext cx="3566160" cy="384048"/>
          </a:xfrm>
          <a:prstGeom prst="roundRect">
            <a:avLst>
              <a:gd name="adj" fmla="val 59524"/>
            </a:avLst>
          </a:prstGeom>
          <a:solidFill>
            <a:srgbClr val="FFF7ED"/>
          </a:solidFill>
          <a:ln w="12700">
            <a:solidFill>
              <a:srgbClr val="FF9900"/>
            </a:solidFill>
            <a:prstDash val="solid"/>
          </a:ln>
        </p:spPr>
        <p:txBody>
          <a:bodyPr/>
          <a:lstStyle/>
          <a:p>
            <a:endParaRPr lang="en-IN"/>
          </a:p>
        </p:txBody>
      </p:sp>
      <p:sp>
        <p:nvSpPr>
          <p:cNvPr id="31" name="Text 28"/>
          <p:cNvSpPr/>
          <p:nvPr/>
        </p:nvSpPr>
        <p:spPr>
          <a:xfrm>
            <a:off x="8092440" y="3840480"/>
            <a:ext cx="3566160" cy="384048"/>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Credit Risk</a:t>
            </a:r>
            <a:endParaRPr lang="en-US" sz="1150" dirty="0"/>
          </a:p>
        </p:txBody>
      </p:sp>
      <p:sp>
        <p:nvSpPr>
          <p:cNvPr id="32" name="Shape 29"/>
          <p:cNvSpPr/>
          <p:nvPr/>
        </p:nvSpPr>
        <p:spPr>
          <a:xfrm>
            <a:off x="502920" y="4361688"/>
            <a:ext cx="3566160" cy="384048"/>
          </a:xfrm>
          <a:prstGeom prst="roundRect">
            <a:avLst>
              <a:gd name="adj" fmla="val 59524"/>
            </a:avLst>
          </a:prstGeom>
          <a:solidFill>
            <a:srgbClr val="FFF7ED"/>
          </a:solidFill>
          <a:ln w="12700">
            <a:solidFill>
              <a:srgbClr val="FF9900"/>
            </a:solidFill>
            <a:prstDash val="solid"/>
          </a:ln>
        </p:spPr>
        <p:txBody>
          <a:bodyPr/>
          <a:lstStyle/>
          <a:p>
            <a:endParaRPr lang="en-IN"/>
          </a:p>
        </p:txBody>
      </p:sp>
      <p:sp>
        <p:nvSpPr>
          <p:cNvPr id="33" name="Text 30"/>
          <p:cNvSpPr/>
          <p:nvPr/>
        </p:nvSpPr>
        <p:spPr>
          <a:xfrm>
            <a:off x="502920" y="4361688"/>
            <a:ext cx="3566160" cy="384048"/>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Customer Segmentation</a:t>
            </a:r>
            <a:endParaRPr lang="en-US" sz="1150" dirty="0"/>
          </a:p>
        </p:txBody>
      </p:sp>
      <p:sp>
        <p:nvSpPr>
          <p:cNvPr id="34" name="Shape 31"/>
          <p:cNvSpPr/>
          <p:nvPr/>
        </p:nvSpPr>
        <p:spPr>
          <a:xfrm>
            <a:off x="4297680" y="4361688"/>
            <a:ext cx="3566160" cy="384048"/>
          </a:xfrm>
          <a:prstGeom prst="roundRect">
            <a:avLst>
              <a:gd name="adj" fmla="val 59524"/>
            </a:avLst>
          </a:prstGeom>
          <a:solidFill>
            <a:srgbClr val="FFF7ED"/>
          </a:solidFill>
          <a:ln w="12700">
            <a:solidFill>
              <a:srgbClr val="FF9900"/>
            </a:solidFill>
            <a:prstDash val="solid"/>
          </a:ln>
        </p:spPr>
        <p:txBody>
          <a:bodyPr/>
          <a:lstStyle/>
          <a:p>
            <a:endParaRPr lang="en-IN"/>
          </a:p>
        </p:txBody>
      </p:sp>
      <p:sp>
        <p:nvSpPr>
          <p:cNvPr id="35" name="Text 32"/>
          <p:cNvSpPr/>
          <p:nvPr/>
        </p:nvSpPr>
        <p:spPr>
          <a:xfrm>
            <a:off x="4297680" y="4361688"/>
            <a:ext cx="3566160" cy="384048"/>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Recommendation</a:t>
            </a:r>
            <a:endParaRPr lang="en-US" sz="1150" dirty="0"/>
          </a:p>
        </p:txBody>
      </p:sp>
      <p:sp>
        <p:nvSpPr>
          <p:cNvPr id="36" name="Shape 33"/>
          <p:cNvSpPr/>
          <p:nvPr/>
        </p:nvSpPr>
        <p:spPr>
          <a:xfrm>
            <a:off x="8092440" y="4361688"/>
            <a:ext cx="3566160" cy="384048"/>
          </a:xfrm>
          <a:prstGeom prst="roundRect">
            <a:avLst>
              <a:gd name="adj" fmla="val 59524"/>
            </a:avLst>
          </a:prstGeom>
          <a:solidFill>
            <a:srgbClr val="FFF7ED"/>
          </a:solidFill>
          <a:ln w="12700">
            <a:solidFill>
              <a:srgbClr val="FF9900"/>
            </a:solidFill>
            <a:prstDash val="solid"/>
          </a:ln>
        </p:spPr>
        <p:txBody>
          <a:bodyPr/>
          <a:lstStyle/>
          <a:p>
            <a:endParaRPr lang="en-IN"/>
          </a:p>
        </p:txBody>
      </p:sp>
      <p:sp>
        <p:nvSpPr>
          <p:cNvPr id="37" name="Text 34"/>
          <p:cNvSpPr/>
          <p:nvPr/>
        </p:nvSpPr>
        <p:spPr>
          <a:xfrm>
            <a:off x="8092440" y="4361688"/>
            <a:ext cx="3566160" cy="384048"/>
          </a:xfrm>
          <a:prstGeom prst="rect">
            <a:avLst/>
          </a:prstGeom>
          <a:noFill/>
          <a:ln/>
        </p:spPr>
        <p:txBody>
          <a:bodyPr wrap="square" lIns="0" tIns="0" rIns="0" bIns="0" rtlCol="0" anchor="ctr"/>
          <a:lstStyle/>
          <a:p>
            <a:pPr marL="0" indent="0" algn="ctr">
              <a:buNone/>
            </a:pPr>
            <a:r>
              <a:rPr lang="en-US" sz="1150" b="1" dirty="0">
                <a:solidFill>
                  <a:srgbClr val="EA580C"/>
                </a:solidFill>
                <a:latin typeface="Arial" pitchFamily="34" charset="0"/>
                <a:ea typeface="Arial" pitchFamily="34" charset="-122"/>
                <a:cs typeface="Arial" pitchFamily="34" charset="-120"/>
              </a:rPr>
              <a:t>Transaction Classification</a:t>
            </a:r>
            <a:endParaRPr lang="en-US" sz="1150" dirty="0"/>
          </a:p>
        </p:txBody>
      </p:sp>
      <p:sp>
        <p:nvSpPr>
          <p:cNvPr id="38" name="Shape 35"/>
          <p:cNvSpPr/>
          <p:nvPr/>
        </p:nvSpPr>
        <p:spPr>
          <a:xfrm>
            <a:off x="502920" y="5020056"/>
            <a:ext cx="11183112" cy="777240"/>
          </a:xfrm>
          <a:prstGeom prst="roundRect">
            <a:avLst>
              <a:gd name="adj" fmla="val 10588"/>
            </a:avLst>
          </a:prstGeom>
          <a:solidFill>
            <a:srgbClr val="F8FAFC"/>
          </a:solidFill>
          <a:ln w="12700">
            <a:solidFill>
              <a:srgbClr val="E2E8F0"/>
            </a:solidFill>
            <a:prstDash val="solid"/>
          </a:ln>
        </p:spPr>
        <p:txBody>
          <a:bodyPr/>
          <a:lstStyle/>
          <a:p>
            <a:endParaRPr lang="en-IN"/>
          </a:p>
        </p:txBody>
      </p:sp>
      <p:sp>
        <p:nvSpPr>
          <p:cNvPr id="39" name="Text 36"/>
          <p:cNvSpPr/>
          <p:nvPr/>
        </p:nvSpPr>
        <p:spPr>
          <a:xfrm>
            <a:off x="777240" y="5020056"/>
            <a:ext cx="10607040" cy="777240"/>
          </a:xfrm>
          <a:prstGeom prst="rect">
            <a:avLst/>
          </a:prstGeom>
          <a:noFill/>
          <a:ln/>
        </p:spPr>
        <p:txBody>
          <a:bodyPr wrap="square" lIns="0" tIns="0" rIns="0" bIns="0" rtlCol="0" anchor="ctr"/>
          <a:lstStyle/>
          <a:p>
            <a:pPr marL="0" indent="0">
              <a:lnSpc>
                <a:spcPct val="115000"/>
              </a:lnSpc>
              <a:buNone/>
            </a:pPr>
            <a:r>
              <a:rPr lang="en-US" sz="1250" b="1" dirty="0">
                <a:solidFill>
                  <a:srgbClr val="000000"/>
                </a:solidFill>
                <a:latin typeface="Arial" pitchFamily="34" charset="0"/>
                <a:ea typeface="Arial" pitchFamily="34" charset="-122"/>
                <a:cs typeface="Arial" pitchFamily="34" charset="-120"/>
              </a:rPr>
              <a:t>The Graph enriches the learned transaction representation — it does not replace the downstream classifier. </a:t>
            </a:r>
            <a:r>
              <a:rPr lang="en-US" sz="1250" i="1" dirty="0">
                <a:solidFill>
                  <a:srgbClr val="6B7280"/>
                </a:solidFill>
                <a:latin typeface="Arial" pitchFamily="34" charset="0"/>
                <a:ea typeface="Arial" pitchFamily="34" charset="-122"/>
                <a:cs typeface="Arial" pitchFamily="34" charset="-120"/>
              </a:rPr>
              <a:t>This is a research hypothesis for </a:t>
            </a:r>
            <a:r>
              <a:rPr lang="en-US" sz="1250" i="1">
                <a:solidFill>
                  <a:srgbClr val="6B7280"/>
                </a:solidFill>
                <a:latin typeface="Arial" pitchFamily="34" charset="0"/>
                <a:ea typeface="Arial" pitchFamily="34" charset="-122"/>
                <a:cs typeface="Arial" pitchFamily="34" charset="-120"/>
              </a:rPr>
              <a:t>Stage 2.</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9722815" cy="685800"/>
          </a:xfrm>
          <a:prstGeom prst="rect">
            <a:avLst/>
          </a:prstGeom>
          <a:noFill/>
          <a:ln/>
        </p:spPr>
        <p:txBody>
          <a:bodyPr wrap="square" lIns="0" tIns="0" rIns="0" bIns="0" rtlCol="0" anchor="t"/>
          <a:lstStyle/>
          <a:p>
            <a:pPr marL="0" indent="0" algn="l">
              <a:buNone/>
            </a:pPr>
            <a:r>
              <a:rPr lang="en-US" sz="2800" b="1" dirty="0">
                <a:solidFill>
                  <a:srgbClr val="000000"/>
                </a:solidFill>
                <a:latin typeface="Arial" pitchFamily="34" charset="0"/>
                <a:ea typeface="Arial" pitchFamily="34" charset="-122"/>
                <a:cs typeface="Arial" pitchFamily="34" charset="-120"/>
              </a:rPr>
              <a:t>Conclusion</a:t>
            </a:r>
            <a:endParaRPr lang="en-US" sz="2800" dirty="0"/>
          </a:p>
        </p:txBody>
      </p:sp>
      <p:sp>
        <p:nvSpPr>
          <p:cNvPr id="3" name="Shape 1"/>
          <p:cNvSpPr/>
          <p:nvPr/>
        </p:nvSpPr>
        <p:spPr>
          <a:xfrm>
            <a:off x="502920" y="1024128"/>
            <a:ext cx="11185855" cy="0"/>
          </a:xfrm>
          <a:prstGeom prst="line">
            <a:avLst/>
          </a:prstGeom>
          <a:noFill/>
          <a:ln w="31750">
            <a:solidFill>
              <a:srgbClr val="FF9900"/>
            </a:solidFill>
            <a:prstDash val="solid"/>
          </a:ln>
        </p:spPr>
        <p:txBody>
          <a:bodyPr/>
          <a:lstStyle/>
          <a:p>
            <a:endParaRPr lang="en-IN"/>
          </a:p>
        </p:txBody>
      </p:sp>
      <p:pic>
        <p:nvPicPr>
          <p:cNvPr id="4" name="Image 0" descr="/home/claude/assets/iit_logo_compact.png"/>
          <p:cNvPicPr>
            <a:picLocks noChangeAspect="1"/>
          </p:cNvPicPr>
          <p:nvPr/>
        </p:nvPicPr>
        <p:blipFill>
          <a:blip r:embed="rId3"/>
          <a:stretch>
            <a:fillRect/>
          </a:stretch>
        </p:blipFill>
        <p:spPr>
          <a:xfrm>
            <a:off x="10938967" y="201168"/>
            <a:ext cx="749808" cy="757401"/>
          </a:xfrm>
          <a:prstGeom prst="rect">
            <a:avLst/>
          </a:prstGeom>
        </p:spPr>
      </p:pic>
      <p:sp>
        <p:nvSpPr>
          <p:cNvPr id="5" name="Text 2"/>
          <p:cNvSpPr/>
          <p:nvPr/>
        </p:nvSpPr>
        <p:spPr>
          <a:xfrm>
            <a:off x="502920" y="1371600"/>
            <a:ext cx="10607040" cy="292608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000000"/>
                </a:solidFill>
                <a:latin typeface="Arial" pitchFamily="34" charset="0"/>
                <a:ea typeface="Arial" pitchFamily="34" charset="-122"/>
                <a:cs typeface="Arial" pitchFamily="34" charset="-120"/>
              </a:rPr>
              <a:t>Reproduced and generalized NVIDIA's Transaction Foundation Model</a:t>
            </a:r>
            <a:endParaRPr lang="en-US" sz="1600" dirty="0"/>
          </a:p>
          <a:p>
            <a:pPr marL="342900" indent="-342900">
              <a:spcAft>
                <a:spcPts val="1800"/>
              </a:spcAft>
              <a:buSzPct val="100000"/>
              <a:buChar char="✓"/>
            </a:pPr>
            <a:r>
              <a:rPr lang="en-US" sz="1600" dirty="0">
                <a:solidFill>
                  <a:srgbClr val="000000"/>
                </a:solidFill>
                <a:latin typeface="Arial" pitchFamily="34" charset="0"/>
                <a:ea typeface="Arial" pitchFamily="34" charset="-122"/>
                <a:cs typeface="Arial" pitchFamily="34" charset="-120"/>
              </a:rPr>
              <a:t>Demonstrated that learned transaction representations transfer across datasets</a:t>
            </a:r>
            <a:endParaRPr lang="en-US" sz="1600" dirty="0"/>
          </a:p>
          <a:p>
            <a:pPr marL="342900" indent="-342900">
              <a:spcAft>
                <a:spcPts val="1800"/>
              </a:spcAft>
              <a:buSzPct val="100000"/>
              <a:buChar char="✓"/>
            </a:pPr>
            <a:r>
              <a:rPr lang="en-US" sz="1600" dirty="0">
                <a:solidFill>
                  <a:srgbClr val="000000"/>
                </a:solidFill>
                <a:latin typeface="Arial" pitchFamily="34" charset="0"/>
                <a:ea typeface="Arial" pitchFamily="34" charset="-122"/>
                <a:cs typeface="Arial" pitchFamily="34" charset="-120"/>
              </a:rPr>
              <a:t>Identified an important limitation in current transaction representation learning — missing relational structure</a:t>
            </a:r>
            <a:endParaRPr lang="en-US" sz="1600" dirty="0"/>
          </a:p>
          <a:p>
            <a:pPr marL="342900" indent="-342900">
              <a:spcAft>
                <a:spcPts val="1800"/>
              </a:spcAft>
              <a:buSzPct val="100000"/>
              <a:buChar char="✓"/>
            </a:pPr>
            <a:r>
              <a:rPr lang="en-US" sz="1600" dirty="0">
                <a:solidFill>
                  <a:srgbClr val="000000"/>
                </a:solidFill>
                <a:latin typeface="Arial" pitchFamily="34" charset="0"/>
                <a:ea typeface="Arial" pitchFamily="34" charset="-122"/>
                <a:cs typeface="Arial" pitchFamily="34" charset="-120"/>
              </a:rPr>
              <a:t>Propose enriching these representations with relational information (Stage 2 hypothesis)</a:t>
            </a:r>
            <a:endParaRPr lang="en-US" sz="1600" dirty="0"/>
          </a:p>
        </p:txBody>
      </p:sp>
      <p:sp>
        <p:nvSpPr>
          <p:cNvPr id="8" name="Shape 5"/>
          <p:cNvSpPr/>
          <p:nvPr/>
        </p:nvSpPr>
        <p:spPr>
          <a:xfrm>
            <a:off x="3017520" y="5943600"/>
            <a:ext cx="411480" cy="411480"/>
          </a:xfrm>
          <a:prstGeom prst="ellipse">
            <a:avLst/>
          </a:prstGeom>
          <a:solidFill>
            <a:srgbClr val="FF9900"/>
          </a:solidFill>
          <a:ln/>
        </p:spPr>
        <p:txBody>
          <a:bodyPr/>
          <a:lstStyle/>
          <a:p>
            <a:endParaRPr lang="en-IN"/>
          </a:p>
        </p:txBody>
      </p:sp>
      <p:sp>
        <p:nvSpPr>
          <p:cNvPr id="9" name="Text 6"/>
          <p:cNvSpPr/>
          <p:nvPr/>
        </p:nvSpPr>
        <p:spPr>
          <a:xfrm>
            <a:off x="2468880" y="6409944"/>
            <a:ext cx="1508760" cy="274320"/>
          </a:xfrm>
          <a:prstGeom prst="rect">
            <a:avLst/>
          </a:prstGeom>
          <a:noFill/>
          <a:ln/>
        </p:spPr>
        <p:txBody>
          <a:bodyPr wrap="square" lIns="0" tIns="0" rIns="0" bIns="0" rtlCol="0" anchor="ctr"/>
          <a:lstStyle/>
          <a:p>
            <a:pPr marL="0" indent="0" algn="ctr">
              <a:buNone/>
            </a:pPr>
            <a:r>
              <a:rPr lang="en-US" sz="1050" b="1" dirty="0">
                <a:solidFill>
                  <a:srgbClr val="EA580C"/>
                </a:solidFill>
                <a:latin typeface="Arial" pitchFamily="34" charset="0"/>
                <a:ea typeface="Arial" pitchFamily="34" charset="-122"/>
                <a:cs typeface="Arial" pitchFamily="34" charset="-120"/>
              </a:rPr>
              <a:t>Stage 1</a:t>
            </a:r>
            <a:endParaRPr lang="en-US" sz="1050" dirty="0"/>
          </a:p>
        </p:txBody>
      </p:sp>
      <p:sp>
        <p:nvSpPr>
          <p:cNvPr id="10" name="Shape 7"/>
          <p:cNvSpPr/>
          <p:nvPr/>
        </p:nvSpPr>
        <p:spPr>
          <a:xfrm>
            <a:off x="3429000" y="6149340"/>
            <a:ext cx="2331720" cy="0"/>
          </a:xfrm>
          <a:prstGeom prst="line">
            <a:avLst/>
          </a:prstGeom>
          <a:noFill/>
          <a:ln w="19050">
            <a:solidFill>
              <a:srgbClr val="C9CFD8"/>
            </a:solidFill>
            <a:prstDash val="solid"/>
          </a:ln>
        </p:spPr>
        <p:txBody>
          <a:bodyPr/>
          <a:lstStyle/>
          <a:p>
            <a:endParaRPr lang="en-IN"/>
          </a:p>
        </p:txBody>
      </p:sp>
      <p:sp>
        <p:nvSpPr>
          <p:cNvPr id="11" name="Shape 8"/>
          <p:cNvSpPr/>
          <p:nvPr/>
        </p:nvSpPr>
        <p:spPr>
          <a:xfrm>
            <a:off x="5760720" y="5943600"/>
            <a:ext cx="411480" cy="411480"/>
          </a:xfrm>
          <a:prstGeom prst="ellipse">
            <a:avLst/>
          </a:prstGeom>
          <a:solidFill>
            <a:srgbClr val="9AA5B4"/>
          </a:solidFill>
          <a:ln/>
        </p:spPr>
        <p:txBody>
          <a:bodyPr/>
          <a:lstStyle/>
          <a:p>
            <a:endParaRPr lang="en-IN"/>
          </a:p>
        </p:txBody>
      </p:sp>
      <p:sp>
        <p:nvSpPr>
          <p:cNvPr id="12" name="Text 9"/>
          <p:cNvSpPr/>
          <p:nvPr/>
        </p:nvSpPr>
        <p:spPr>
          <a:xfrm>
            <a:off x="5212080" y="6409944"/>
            <a:ext cx="150876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Arial" pitchFamily="34" charset="0"/>
                <a:ea typeface="Arial" pitchFamily="34" charset="-122"/>
                <a:cs typeface="Arial" pitchFamily="34" charset="-120"/>
              </a:rPr>
              <a:t>Stage 2</a:t>
            </a:r>
            <a:endParaRPr lang="en-US" sz="1050" dirty="0"/>
          </a:p>
        </p:txBody>
      </p:sp>
      <p:sp>
        <p:nvSpPr>
          <p:cNvPr id="13" name="Shape 10"/>
          <p:cNvSpPr/>
          <p:nvPr/>
        </p:nvSpPr>
        <p:spPr>
          <a:xfrm>
            <a:off x="6172200" y="6149340"/>
            <a:ext cx="2331720" cy="0"/>
          </a:xfrm>
          <a:prstGeom prst="line">
            <a:avLst/>
          </a:prstGeom>
          <a:noFill/>
          <a:ln w="19050">
            <a:solidFill>
              <a:srgbClr val="C9CFD8"/>
            </a:solidFill>
            <a:prstDash val="solid"/>
          </a:ln>
        </p:spPr>
        <p:txBody>
          <a:bodyPr/>
          <a:lstStyle/>
          <a:p>
            <a:endParaRPr lang="en-IN"/>
          </a:p>
        </p:txBody>
      </p:sp>
      <p:sp>
        <p:nvSpPr>
          <p:cNvPr id="14" name="Shape 11"/>
          <p:cNvSpPr/>
          <p:nvPr/>
        </p:nvSpPr>
        <p:spPr>
          <a:xfrm>
            <a:off x="8503920" y="5943600"/>
            <a:ext cx="411480" cy="411480"/>
          </a:xfrm>
          <a:prstGeom prst="ellipse">
            <a:avLst/>
          </a:prstGeom>
          <a:solidFill>
            <a:srgbClr val="9AA5B4"/>
          </a:solidFill>
          <a:ln/>
        </p:spPr>
        <p:txBody>
          <a:bodyPr/>
          <a:lstStyle/>
          <a:p>
            <a:endParaRPr lang="en-IN"/>
          </a:p>
        </p:txBody>
      </p:sp>
      <p:sp>
        <p:nvSpPr>
          <p:cNvPr id="15" name="Text 12"/>
          <p:cNvSpPr/>
          <p:nvPr/>
        </p:nvSpPr>
        <p:spPr>
          <a:xfrm>
            <a:off x="7955280" y="6409944"/>
            <a:ext cx="150876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Arial" pitchFamily="34" charset="0"/>
                <a:ea typeface="Arial" pitchFamily="34" charset="-122"/>
                <a:cs typeface="Arial" pitchFamily="34" charset="-120"/>
              </a:rPr>
              <a:t>Stage 3</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home/claude/assets/iit_logo.png"/>
          <p:cNvPicPr>
            <a:picLocks noChangeAspect="1"/>
          </p:cNvPicPr>
          <p:nvPr/>
        </p:nvPicPr>
        <p:blipFill>
          <a:blip r:embed="rId3"/>
          <a:stretch>
            <a:fillRect/>
          </a:stretch>
        </p:blipFill>
        <p:spPr>
          <a:xfrm>
            <a:off x="365760" y="292608"/>
            <a:ext cx="1234440" cy="290456"/>
          </a:xfrm>
          <a:prstGeom prst="rect">
            <a:avLst/>
          </a:prstGeom>
        </p:spPr>
      </p:pic>
      <p:sp>
        <p:nvSpPr>
          <p:cNvPr id="3" name="Shape 0"/>
          <p:cNvSpPr/>
          <p:nvPr/>
        </p:nvSpPr>
        <p:spPr>
          <a:xfrm>
            <a:off x="9750247" y="274320"/>
            <a:ext cx="109728" cy="594360"/>
          </a:xfrm>
          <a:prstGeom prst="rect">
            <a:avLst/>
          </a:prstGeom>
          <a:solidFill>
            <a:srgbClr val="FFFF00"/>
          </a:solidFill>
          <a:ln/>
        </p:spPr>
        <p:txBody>
          <a:bodyPr/>
          <a:lstStyle/>
          <a:p>
            <a:endParaRPr lang="en-IN"/>
          </a:p>
        </p:txBody>
      </p:sp>
      <p:sp>
        <p:nvSpPr>
          <p:cNvPr id="4" name="Shape 1"/>
          <p:cNvSpPr/>
          <p:nvPr/>
        </p:nvSpPr>
        <p:spPr>
          <a:xfrm>
            <a:off x="9997135" y="274320"/>
            <a:ext cx="320040" cy="594360"/>
          </a:xfrm>
          <a:prstGeom prst="rect">
            <a:avLst/>
          </a:prstGeom>
          <a:solidFill>
            <a:srgbClr val="FFAB40"/>
          </a:solidFill>
          <a:ln/>
        </p:spPr>
        <p:txBody>
          <a:bodyPr/>
          <a:lstStyle/>
          <a:p>
            <a:endParaRPr lang="en-IN"/>
          </a:p>
        </p:txBody>
      </p:sp>
      <p:sp>
        <p:nvSpPr>
          <p:cNvPr id="5" name="Shape 2"/>
          <p:cNvSpPr/>
          <p:nvPr/>
        </p:nvSpPr>
        <p:spPr>
          <a:xfrm>
            <a:off x="10454335" y="274320"/>
            <a:ext cx="411480" cy="594360"/>
          </a:xfrm>
          <a:prstGeom prst="rect">
            <a:avLst/>
          </a:prstGeom>
          <a:solidFill>
            <a:srgbClr val="FF9900"/>
          </a:solidFill>
          <a:ln/>
        </p:spPr>
        <p:txBody>
          <a:bodyPr/>
          <a:lstStyle/>
          <a:p>
            <a:endParaRPr lang="en-IN"/>
          </a:p>
        </p:txBody>
      </p:sp>
      <p:sp>
        <p:nvSpPr>
          <p:cNvPr id="6" name="Shape 3"/>
          <p:cNvSpPr/>
          <p:nvPr/>
        </p:nvSpPr>
        <p:spPr>
          <a:xfrm>
            <a:off x="11002975" y="274320"/>
            <a:ext cx="685800" cy="594360"/>
          </a:xfrm>
          <a:prstGeom prst="rect">
            <a:avLst/>
          </a:prstGeom>
          <a:solidFill>
            <a:srgbClr val="FF4500"/>
          </a:solidFill>
          <a:ln/>
        </p:spPr>
        <p:txBody>
          <a:bodyPr/>
          <a:lstStyle/>
          <a:p>
            <a:endParaRPr lang="en-IN"/>
          </a:p>
        </p:txBody>
      </p:sp>
      <p:sp>
        <p:nvSpPr>
          <p:cNvPr id="7" name="Shape 4"/>
          <p:cNvSpPr/>
          <p:nvPr/>
        </p:nvSpPr>
        <p:spPr>
          <a:xfrm>
            <a:off x="502920" y="1024128"/>
            <a:ext cx="11185855" cy="0"/>
          </a:xfrm>
          <a:prstGeom prst="line">
            <a:avLst/>
          </a:prstGeom>
          <a:noFill/>
          <a:ln w="31750">
            <a:solidFill>
              <a:srgbClr val="FF9900"/>
            </a:solidFill>
            <a:prstDash val="solid"/>
          </a:ln>
        </p:spPr>
        <p:txBody>
          <a:bodyPr/>
          <a:lstStyle/>
          <a:p>
            <a:endParaRPr lang="en-IN"/>
          </a:p>
        </p:txBody>
      </p:sp>
      <p:sp>
        <p:nvSpPr>
          <p:cNvPr id="8" name="Text 5"/>
          <p:cNvSpPr/>
          <p:nvPr/>
        </p:nvSpPr>
        <p:spPr>
          <a:xfrm>
            <a:off x="0" y="2834640"/>
            <a:ext cx="12191695" cy="1005840"/>
          </a:xfrm>
          <a:prstGeom prst="rect">
            <a:avLst/>
          </a:prstGeom>
          <a:noFill/>
          <a:ln/>
        </p:spPr>
        <p:txBody>
          <a:bodyPr wrap="square" lIns="0" tIns="0" rIns="0" bIns="0" rtlCol="0" anchor="ctr"/>
          <a:lstStyle/>
          <a:p>
            <a:pPr marL="0" indent="0" algn="ctr">
              <a:buNone/>
            </a:pPr>
            <a:r>
              <a:rPr lang="en-US" sz="4800" b="1" dirty="0">
                <a:solidFill>
                  <a:srgbClr val="1F2937"/>
                </a:solidFill>
                <a:latin typeface="Arial" pitchFamily="34" charset="0"/>
                <a:ea typeface="Arial" pitchFamily="34" charset="-122"/>
                <a:cs typeface="Arial" pitchFamily="34" charset="-120"/>
              </a:rPr>
              <a:t>Thank You!</a:t>
            </a:r>
            <a:endParaRPr lang="en-US" sz="4800" dirty="0"/>
          </a:p>
        </p:txBody>
      </p:sp>
      <p:sp>
        <p:nvSpPr>
          <p:cNvPr id="9" name="Shape 6"/>
          <p:cNvSpPr/>
          <p:nvPr/>
        </p:nvSpPr>
        <p:spPr>
          <a:xfrm>
            <a:off x="5090008" y="3977640"/>
            <a:ext cx="2011680" cy="0"/>
          </a:xfrm>
          <a:prstGeom prst="line">
            <a:avLst/>
          </a:prstGeom>
          <a:noFill/>
          <a:ln w="31750">
            <a:solidFill>
              <a:srgbClr val="FF9900"/>
            </a:solidFill>
            <a:prstDash val="solid"/>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496</TotalTime>
  <Words>2770</Words>
  <Application>Microsoft Office PowerPoint</Application>
  <PresentationFormat>Widescreen</PresentationFormat>
  <Paragraphs>209</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Foundation Models for General-Purpose Financial Representation Learning</dc:title>
  <dc:subject>PptxGenJS Presentation</dc:subject>
  <dc:creator>M.Tech Thesis</dc:creator>
  <cp:lastModifiedBy>Hemang Ranga</cp:lastModifiedBy>
  <cp:revision>32</cp:revision>
  <dcterms:created xsi:type="dcterms:W3CDTF">2026-07-19T16:48:22Z</dcterms:created>
  <dcterms:modified xsi:type="dcterms:W3CDTF">2026-07-20T10:24:57Z</dcterms:modified>
</cp:coreProperties>
</file>